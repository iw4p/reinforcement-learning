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a8781770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a8781770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5a6d6157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5a6d6157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5a878177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5a878177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5a6d6153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5a6d6153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5a6d6157f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5a6d6157f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5a6d6157f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5a6d6157f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5a6d6157f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5a6d6157f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5a6d6157f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5a6d6157f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5a6d6157ff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5a6d6157ff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545450"/>
            <a:ext cx="85206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Kinds of RL Algorithms</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2887800" y="241600"/>
            <a:ext cx="3368400" cy="68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A Taxonomy of</a:t>
            </a:r>
            <a:endParaRPr b="1" sz="1800"/>
          </a:p>
          <a:p>
            <a:pPr indent="0" lvl="0" marL="0" rtl="0" algn="ctr">
              <a:spcBef>
                <a:spcPts val="0"/>
              </a:spcBef>
              <a:spcAft>
                <a:spcPts val="0"/>
              </a:spcAft>
              <a:buClr>
                <a:schemeClr val="dk1"/>
              </a:buClr>
              <a:buSzPts val="1100"/>
              <a:buFont typeface="Arial"/>
              <a:buNone/>
            </a:pPr>
            <a:r>
              <a:rPr b="1" lang="en" sz="1800"/>
              <a:t>RL Algorithms</a:t>
            </a:r>
            <a:endParaRPr b="1" sz="1800"/>
          </a:p>
          <a:p>
            <a:pPr indent="0" lvl="0" marL="0" rtl="0" algn="ctr">
              <a:spcBef>
                <a:spcPts val="0"/>
              </a:spcBef>
              <a:spcAft>
                <a:spcPts val="0"/>
              </a:spcAft>
              <a:buClr>
                <a:schemeClr val="dk1"/>
              </a:buClr>
              <a:buSzPts val="1100"/>
              <a:buFont typeface="Arial"/>
              <a:buNone/>
            </a:pPr>
            <a:r>
              <a:t/>
            </a:r>
            <a:endParaRPr b="1" sz="1800"/>
          </a:p>
          <a:p>
            <a:pPr indent="0" lvl="0" marL="0" rtl="0" algn="ctr">
              <a:spcBef>
                <a:spcPts val="0"/>
              </a:spcBef>
              <a:spcAft>
                <a:spcPts val="0"/>
              </a:spcAft>
              <a:buNone/>
            </a:pPr>
            <a:r>
              <a:t/>
            </a:r>
            <a:endParaRPr b="1" sz="1800"/>
          </a:p>
        </p:txBody>
      </p:sp>
      <p:pic>
        <p:nvPicPr>
          <p:cNvPr id="60" name="Google Shape;60;p14"/>
          <p:cNvPicPr preferRelativeResize="0"/>
          <p:nvPr/>
        </p:nvPicPr>
        <p:blipFill>
          <a:blip r:embed="rId3">
            <a:alphaModFix/>
          </a:blip>
          <a:stretch>
            <a:fillRect/>
          </a:stretch>
        </p:blipFill>
        <p:spPr>
          <a:xfrm>
            <a:off x="1257649" y="1342325"/>
            <a:ext cx="6628699" cy="3431875"/>
          </a:xfrm>
          <a:prstGeom prst="rect">
            <a:avLst/>
          </a:prstGeom>
          <a:noFill/>
          <a:ln>
            <a:noFill/>
          </a:ln>
        </p:spPr>
      </p:pic>
      <p:sp>
        <p:nvSpPr>
          <p:cNvPr id="61" name="Google Shape;61;p14"/>
          <p:cNvSpPr txBox="1"/>
          <p:nvPr/>
        </p:nvSpPr>
        <p:spPr>
          <a:xfrm>
            <a:off x="498300" y="4774200"/>
            <a:ext cx="8147400" cy="369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1800"/>
              </a:spcAft>
              <a:buNone/>
            </a:pPr>
            <a:r>
              <a:rPr i="1" lang="en" sz="1200">
                <a:solidFill>
                  <a:schemeClr val="dk1"/>
                </a:solidFill>
                <a:highlight>
                  <a:srgbClr val="FCFCFC"/>
                </a:highlight>
              </a:rPr>
              <a:t>A non-exhaustive, but useful taxonomy of algorithms in modern RL.</a:t>
            </a:r>
            <a:endParaRPr sz="1200">
              <a:solidFill>
                <a:schemeClr val="dk1"/>
              </a:solidFill>
              <a:highlight>
                <a:srgbClr val="FCFCFC"/>
              </a:highlight>
            </a:endParaRPr>
          </a:p>
        </p:txBody>
      </p:sp>
      <p:pic>
        <p:nvPicPr>
          <p:cNvPr id="62" name="Google Shape;62;p14"/>
          <p:cNvPicPr preferRelativeResize="0"/>
          <p:nvPr/>
        </p:nvPicPr>
        <p:blipFill>
          <a:blip r:embed="rId4">
            <a:alphaModFix/>
          </a:blip>
          <a:stretch>
            <a:fillRect/>
          </a:stretch>
        </p:blipFill>
        <p:spPr>
          <a:xfrm>
            <a:off x="5811850" y="846300"/>
            <a:ext cx="3074850" cy="1001325"/>
          </a:xfrm>
          <a:prstGeom prst="rect">
            <a:avLst/>
          </a:prstGeom>
          <a:noFill/>
          <a:ln>
            <a:noFill/>
          </a:ln>
        </p:spPr>
      </p:pic>
      <p:pic>
        <p:nvPicPr>
          <p:cNvPr id="63" name="Google Shape;63;p14"/>
          <p:cNvPicPr preferRelativeResize="0"/>
          <p:nvPr/>
        </p:nvPicPr>
        <p:blipFill>
          <a:blip r:embed="rId5">
            <a:alphaModFix/>
          </a:blip>
          <a:stretch>
            <a:fillRect/>
          </a:stretch>
        </p:blipFill>
        <p:spPr>
          <a:xfrm>
            <a:off x="173000" y="363588"/>
            <a:ext cx="2850849" cy="21191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p:cNvPicPr preferRelativeResize="0"/>
          <p:nvPr/>
        </p:nvPicPr>
        <p:blipFill rotWithShape="1">
          <a:blip r:embed="rId3">
            <a:alphaModFix/>
          </a:blip>
          <a:srcRect b="0" l="0" r="0" t="9821"/>
          <a:stretch/>
        </p:blipFill>
        <p:spPr>
          <a:xfrm>
            <a:off x="2018202" y="1160400"/>
            <a:ext cx="5107600" cy="2822700"/>
          </a:xfrm>
          <a:prstGeom prst="rect">
            <a:avLst/>
          </a:prstGeom>
          <a:noFill/>
          <a:ln>
            <a:noFill/>
          </a:ln>
        </p:spPr>
      </p:pic>
      <p:sp>
        <p:nvSpPr>
          <p:cNvPr id="69" name="Google Shape;69;p15"/>
          <p:cNvSpPr txBox="1"/>
          <p:nvPr/>
        </p:nvSpPr>
        <p:spPr>
          <a:xfrm>
            <a:off x="2887800" y="275050"/>
            <a:ext cx="3368400" cy="68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t>Reinforcement Learning</a:t>
            </a:r>
            <a:endParaRPr b="1"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p:nvPr/>
        </p:nvSpPr>
        <p:spPr>
          <a:xfrm>
            <a:off x="3626663" y="556025"/>
            <a:ext cx="2357100" cy="90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Inputs</a:t>
            </a:r>
            <a:endParaRPr/>
          </a:p>
          <a:p>
            <a:pPr indent="0" lvl="0" marL="0" rtl="0" algn="ctr">
              <a:spcBef>
                <a:spcPts val="0"/>
              </a:spcBef>
              <a:spcAft>
                <a:spcPts val="0"/>
              </a:spcAft>
              <a:buNone/>
            </a:pPr>
            <a:r>
              <a:rPr lang="en"/>
              <a:t>(Distribution of Random Variables)</a:t>
            </a:r>
            <a:endParaRPr/>
          </a:p>
        </p:txBody>
      </p:sp>
      <p:sp>
        <p:nvSpPr>
          <p:cNvPr id="75" name="Google Shape;75;p16"/>
          <p:cNvSpPr/>
          <p:nvPr/>
        </p:nvSpPr>
        <p:spPr>
          <a:xfrm>
            <a:off x="339338" y="1519175"/>
            <a:ext cx="2357100" cy="90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Model-based</a:t>
            </a:r>
            <a:endParaRPr/>
          </a:p>
          <a:p>
            <a:pPr indent="0" lvl="0" marL="0" rtl="0" algn="ctr">
              <a:spcBef>
                <a:spcPts val="0"/>
              </a:spcBef>
              <a:spcAft>
                <a:spcPts val="0"/>
              </a:spcAft>
              <a:buNone/>
            </a:pPr>
            <a:r>
              <a:rPr lang="en"/>
              <a:t>(Generate the transition probability and transition reward matrices)</a:t>
            </a:r>
            <a:endParaRPr/>
          </a:p>
        </p:txBody>
      </p:sp>
      <p:sp>
        <p:nvSpPr>
          <p:cNvPr id="76" name="Google Shape;76;p16"/>
          <p:cNvSpPr/>
          <p:nvPr/>
        </p:nvSpPr>
        <p:spPr>
          <a:xfrm>
            <a:off x="339338" y="2601975"/>
            <a:ext cx="2357100" cy="90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Dynamic Programming Algorithm</a:t>
            </a:r>
            <a:endParaRPr/>
          </a:p>
          <a:p>
            <a:pPr indent="0" lvl="0" marL="0" rtl="0" algn="ctr">
              <a:spcBef>
                <a:spcPts val="0"/>
              </a:spcBef>
              <a:spcAft>
                <a:spcPts val="0"/>
              </a:spcAft>
              <a:buClr>
                <a:schemeClr val="dk1"/>
              </a:buClr>
              <a:buSzPts val="1100"/>
              <a:buFont typeface="Arial"/>
              <a:buNone/>
            </a:pPr>
            <a:r>
              <a:rPr lang="en"/>
              <a:t>(Policy Iteration/ Value</a:t>
            </a:r>
            <a:endParaRPr/>
          </a:p>
          <a:p>
            <a:pPr indent="0" lvl="0" marL="0" rtl="0" algn="ctr">
              <a:spcBef>
                <a:spcPts val="0"/>
              </a:spcBef>
              <a:spcAft>
                <a:spcPts val="0"/>
              </a:spcAft>
              <a:buNone/>
            </a:pPr>
            <a:r>
              <a:rPr lang="en"/>
              <a:t>Iteration or LP)</a:t>
            </a:r>
            <a:endParaRPr/>
          </a:p>
        </p:txBody>
      </p:sp>
      <p:sp>
        <p:nvSpPr>
          <p:cNvPr id="77" name="Google Shape;77;p16"/>
          <p:cNvSpPr/>
          <p:nvPr/>
        </p:nvSpPr>
        <p:spPr>
          <a:xfrm>
            <a:off x="339338" y="3684775"/>
            <a:ext cx="2357100" cy="90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Optimal Solution</a:t>
            </a:r>
            <a:endParaRPr/>
          </a:p>
        </p:txBody>
      </p:sp>
      <p:cxnSp>
        <p:nvCxnSpPr>
          <p:cNvPr id="78" name="Google Shape;78;p16"/>
          <p:cNvCxnSpPr>
            <a:stCxn id="74" idx="3"/>
          </p:cNvCxnSpPr>
          <p:nvPr/>
        </p:nvCxnSpPr>
        <p:spPr>
          <a:xfrm>
            <a:off x="5983763" y="1007375"/>
            <a:ext cx="1642500" cy="593400"/>
          </a:xfrm>
          <a:prstGeom prst="bentConnector3">
            <a:avLst>
              <a:gd fmla="val 101087" name="adj1"/>
            </a:avLst>
          </a:prstGeom>
          <a:noFill/>
          <a:ln cap="flat" cmpd="sng" w="9525">
            <a:solidFill>
              <a:schemeClr val="dk2"/>
            </a:solidFill>
            <a:prstDash val="solid"/>
            <a:round/>
            <a:headEnd len="med" w="med" type="none"/>
            <a:tailEnd len="med" w="med" type="triangle"/>
          </a:ln>
        </p:spPr>
      </p:cxnSp>
      <p:sp>
        <p:nvSpPr>
          <p:cNvPr id="79" name="Google Shape;79;p16"/>
          <p:cNvSpPr/>
          <p:nvPr/>
        </p:nvSpPr>
        <p:spPr>
          <a:xfrm>
            <a:off x="6447563" y="1519175"/>
            <a:ext cx="2357100" cy="90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Model-free</a:t>
            </a:r>
            <a:endParaRPr/>
          </a:p>
          <a:p>
            <a:pPr indent="0" lvl="0" marL="0" rtl="0" algn="ctr">
              <a:spcBef>
                <a:spcPts val="0"/>
              </a:spcBef>
              <a:spcAft>
                <a:spcPts val="0"/>
              </a:spcAft>
              <a:buNone/>
            </a:pPr>
            <a:r>
              <a:rPr lang="en"/>
              <a:t>(Simulator/ Real system)</a:t>
            </a:r>
            <a:endParaRPr/>
          </a:p>
        </p:txBody>
      </p:sp>
      <p:sp>
        <p:nvSpPr>
          <p:cNvPr id="80" name="Google Shape;80;p16"/>
          <p:cNvSpPr/>
          <p:nvPr/>
        </p:nvSpPr>
        <p:spPr>
          <a:xfrm>
            <a:off x="6447563" y="2601975"/>
            <a:ext cx="2357100" cy="90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RL. Algorithm</a:t>
            </a:r>
            <a:endParaRPr/>
          </a:p>
          <a:p>
            <a:pPr indent="0" lvl="0" marL="0" rtl="0" algn="ctr">
              <a:spcBef>
                <a:spcPts val="0"/>
              </a:spcBef>
              <a:spcAft>
                <a:spcPts val="0"/>
              </a:spcAft>
              <a:buNone/>
            </a:pPr>
            <a:r>
              <a:rPr lang="en"/>
              <a:t> (Q-Learning/ SARSA)</a:t>
            </a:r>
            <a:endParaRPr/>
          </a:p>
        </p:txBody>
      </p:sp>
      <p:sp>
        <p:nvSpPr>
          <p:cNvPr id="81" name="Google Shape;81;p16"/>
          <p:cNvSpPr/>
          <p:nvPr/>
        </p:nvSpPr>
        <p:spPr>
          <a:xfrm>
            <a:off x="6447563" y="3684775"/>
            <a:ext cx="2357100" cy="90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Approximate - Near</a:t>
            </a:r>
            <a:endParaRPr/>
          </a:p>
          <a:p>
            <a:pPr indent="0" lvl="0" marL="0" rtl="0" algn="ctr">
              <a:spcBef>
                <a:spcPts val="0"/>
              </a:spcBef>
              <a:spcAft>
                <a:spcPts val="0"/>
              </a:spcAft>
              <a:buNone/>
            </a:pPr>
            <a:r>
              <a:rPr lang="en"/>
              <a:t>Optimal Solution</a:t>
            </a:r>
            <a:endParaRPr/>
          </a:p>
        </p:txBody>
      </p:sp>
      <p:cxnSp>
        <p:nvCxnSpPr>
          <p:cNvPr id="82" name="Google Shape;82;p16"/>
          <p:cNvCxnSpPr>
            <a:stCxn id="74" idx="1"/>
            <a:endCxn id="75" idx="0"/>
          </p:cNvCxnSpPr>
          <p:nvPr/>
        </p:nvCxnSpPr>
        <p:spPr>
          <a:xfrm flipH="1">
            <a:off x="1517963" y="1007375"/>
            <a:ext cx="2108700" cy="511800"/>
          </a:xfrm>
          <a:prstGeom prst="bentConnector2">
            <a:avLst/>
          </a:prstGeom>
          <a:noFill/>
          <a:ln cap="flat" cmpd="sng" w="9525">
            <a:solidFill>
              <a:schemeClr val="dk2"/>
            </a:solidFill>
            <a:prstDash val="solid"/>
            <a:round/>
            <a:headEnd len="med" w="med" type="none"/>
            <a:tailEnd len="med" w="med" type="none"/>
          </a:ln>
        </p:spPr>
      </p:cxnSp>
      <p:cxnSp>
        <p:nvCxnSpPr>
          <p:cNvPr id="83" name="Google Shape;83;p16"/>
          <p:cNvCxnSpPr>
            <a:stCxn id="79" idx="2"/>
            <a:endCxn id="80" idx="0"/>
          </p:cNvCxnSpPr>
          <p:nvPr/>
        </p:nvCxnSpPr>
        <p:spPr>
          <a:xfrm>
            <a:off x="7626113" y="2421875"/>
            <a:ext cx="0" cy="180000"/>
          </a:xfrm>
          <a:prstGeom prst="straightConnector1">
            <a:avLst/>
          </a:prstGeom>
          <a:noFill/>
          <a:ln cap="flat" cmpd="sng" w="9525">
            <a:solidFill>
              <a:schemeClr val="dk2"/>
            </a:solidFill>
            <a:prstDash val="solid"/>
            <a:round/>
            <a:headEnd len="med" w="med" type="none"/>
            <a:tailEnd len="med" w="med" type="triangle"/>
          </a:ln>
        </p:spPr>
      </p:cxnSp>
      <p:cxnSp>
        <p:nvCxnSpPr>
          <p:cNvPr id="84" name="Google Shape;84;p16"/>
          <p:cNvCxnSpPr>
            <a:stCxn id="80" idx="2"/>
            <a:endCxn id="81" idx="0"/>
          </p:cNvCxnSpPr>
          <p:nvPr/>
        </p:nvCxnSpPr>
        <p:spPr>
          <a:xfrm>
            <a:off x="7626113" y="3504675"/>
            <a:ext cx="0" cy="180000"/>
          </a:xfrm>
          <a:prstGeom prst="straightConnector1">
            <a:avLst/>
          </a:prstGeom>
          <a:noFill/>
          <a:ln cap="flat" cmpd="sng" w="9525">
            <a:solidFill>
              <a:schemeClr val="dk2"/>
            </a:solidFill>
            <a:prstDash val="solid"/>
            <a:round/>
            <a:headEnd len="med" w="med" type="none"/>
            <a:tailEnd len="med" w="med" type="triangle"/>
          </a:ln>
        </p:spPr>
      </p:cxnSp>
      <p:cxnSp>
        <p:nvCxnSpPr>
          <p:cNvPr id="85" name="Google Shape;85;p16"/>
          <p:cNvCxnSpPr>
            <a:stCxn id="75" idx="2"/>
            <a:endCxn id="76" idx="0"/>
          </p:cNvCxnSpPr>
          <p:nvPr/>
        </p:nvCxnSpPr>
        <p:spPr>
          <a:xfrm>
            <a:off x="1517888" y="2421875"/>
            <a:ext cx="0" cy="180000"/>
          </a:xfrm>
          <a:prstGeom prst="straightConnector1">
            <a:avLst/>
          </a:prstGeom>
          <a:noFill/>
          <a:ln cap="flat" cmpd="sng" w="9525">
            <a:solidFill>
              <a:schemeClr val="dk2"/>
            </a:solidFill>
            <a:prstDash val="solid"/>
            <a:round/>
            <a:headEnd len="med" w="med" type="none"/>
            <a:tailEnd len="med" w="med" type="triangle"/>
          </a:ln>
        </p:spPr>
      </p:cxnSp>
      <p:cxnSp>
        <p:nvCxnSpPr>
          <p:cNvPr id="86" name="Google Shape;86;p16"/>
          <p:cNvCxnSpPr>
            <a:stCxn id="76" idx="2"/>
            <a:endCxn id="77" idx="0"/>
          </p:cNvCxnSpPr>
          <p:nvPr/>
        </p:nvCxnSpPr>
        <p:spPr>
          <a:xfrm>
            <a:off x="1517888" y="3504675"/>
            <a:ext cx="0" cy="180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ctrTitle"/>
          </p:nvPr>
        </p:nvSpPr>
        <p:spPr>
          <a:xfrm>
            <a:off x="311708" y="1545450"/>
            <a:ext cx="85206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Common Approaches</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nvSpPr>
        <p:spPr>
          <a:xfrm>
            <a:off x="2896500" y="136925"/>
            <a:ext cx="3351000" cy="51873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sz="1300"/>
              <a:t>Dynamic Programming</a:t>
            </a:r>
            <a:endParaRPr sz="1300"/>
          </a:p>
          <a:p>
            <a:pPr indent="-311150" lvl="0" marL="731520" rtl="0" algn="l">
              <a:spcBef>
                <a:spcPts val="0"/>
              </a:spcBef>
              <a:spcAft>
                <a:spcPts val="0"/>
              </a:spcAft>
              <a:buSzPts val="1300"/>
              <a:buChar char="●"/>
            </a:pPr>
            <a:r>
              <a:rPr lang="en" sz="1300"/>
              <a:t>Policy Evaluation</a:t>
            </a:r>
            <a:endParaRPr sz="1300"/>
          </a:p>
          <a:p>
            <a:pPr indent="-311150" lvl="0" marL="731520" rtl="0" algn="l">
              <a:spcBef>
                <a:spcPts val="0"/>
              </a:spcBef>
              <a:spcAft>
                <a:spcPts val="0"/>
              </a:spcAft>
              <a:buSzPts val="1300"/>
              <a:buChar char="●"/>
            </a:pPr>
            <a:r>
              <a:rPr lang="en" sz="1300"/>
              <a:t>Policy Improvement</a:t>
            </a:r>
            <a:endParaRPr sz="1300"/>
          </a:p>
          <a:p>
            <a:pPr indent="-311150" lvl="0" marL="731520" rtl="0" algn="l">
              <a:spcBef>
                <a:spcPts val="0"/>
              </a:spcBef>
              <a:spcAft>
                <a:spcPts val="0"/>
              </a:spcAft>
              <a:buSzPts val="1300"/>
              <a:buChar char="●"/>
            </a:pPr>
            <a:r>
              <a:rPr lang="en" sz="1300"/>
              <a:t>Policy Iteration</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Monte-Carlo Methods</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Char char="●"/>
            </a:pPr>
            <a:r>
              <a:rPr lang="en" sz="1300"/>
              <a:t>Temporal-Difference Learning</a:t>
            </a:r>
            <a:endParaRPr sz="1300"/>
          </a:p>
          <a:p>
            <a:pPr indent="-311150" lvl="0" marL="640080" rtl="0" algn="l">
              <a:spcBef>
                <a:spcPts val="0"/>
              </a:spcBef>
              <a:spcAft>
                <a:spcPts val="0"/>
              </a:spcAft>
              <a:buSzPts val="1300"/>
              <a:buChar char="●"/>
            </a:pPr>
            <a:r>
              <a:rPr lang="en" sz="1300"/>
              <a:t>Bootstrapping</a:t>
            </a:r>
            <a:endParaRPr sz="1300"/>
          </a:p>
          <a:p>
            <a:pPr indent="-311150" lvl="0" marL="640080" rtl="0" algn="l">
              <a:spcBef>
                <a:spcPts val="0"/>
              </a:spcBef>
              <a:spcAft>
                <a:spcPts val="0"/>
              </a:spcAft>
              <a:buSzPts val="1300"/>
              <a:buChar char="●"/>
            </a:pPr>
            <a:r>
              <a:rPr lang="en" sz="1300"/>
              <a:t>Value Estimation</a:t>
            </a:r>
            <a:endParaRPr sz="1300"/>
          </a:p>
          <a:p>
            <a:pPr indent="-311150" lvl="0" marL="640080" rtl="0" algn="l">
              <a:spcBef>
                <a:spcPts val="0"/>
              </a:spcBef>
              <a:spcAft>
                <a:spcPts val="0"/>
              </a:spcAft>
              <a:buSzPts val="1300"/>
              <a:buChar char="●"/>
            </a:pPr>
            <a:r>
              <a:rPr lang="en" sz="1300"/>
              <a:t>SARSA: On-Policy TD control</a:t>
            </a:r>
            <a:endParaRPr sz="1300"/>
          </a:p>
          <a:p>
            <a:pPr indent="-311150" lvl="0" marL="640080" rtl="0" algn="l">
              <a:spcBef>
                <a:spcPts val="0"/>
              </a:spcBef>
              <a:spcAft>
                <a:spcPts val="0"/>
              </a:spcAft>
              <a:buSzPts val="1300"/>
              <a:buChar char="●"/>
            </a:pPr>
            <a:r>
              <a:rPr lang="en" sz="1300"/>
              <a:t>Q-Learning: Off-policy TD control</a:t>
            </a:r>
            <a:endParaRPr sz="1300"/>
          </a:p>
          <a:p>
            <a:pPr indent="-311150" lvl="0" marL="640080" rtl="0" algn="l">
              <a:spcBef>
                <a:spcPts val="0"/>
              </a:spcBef>
              <a:spcAft>
                <a:spcPts val="0"/>
              </a:spcAft>
              <a:buSzPts val="1300"/>
              <a:buChar char="●"/>
            </a:pPr>
            <a:r>
              <a:rPr lang="en" sz="1300"/>
              <a:t>Deep Q-Network</a:t>
            </a:r>
            <a:endParaRPr sz="1300"/>
          </a:p>
          <a:p>
            <a:pPr indent="0" lvl="0" marL="0" rtl="0" algn="l">
              <a:spcBef>
                <a:spcPts val="0"/>
              </a:spcBef>
              <a:spcAft>
                <a:spcPts val="0"/>
              </a:spcAft>
              <a:buNone/>
            </a:pPr>
            <a:r>
              <a:t/>
            </a:r>
            <a:endParaRPr sz="1300"/>
          </a:p>
          <a:p>
            <a:pPr indent="-311150" lvl="0" marL="457200" rtl="0" algn="l">
              <a:spcBef>
                <a:spcPts val="0"/>
              </a:spcBef>
              <a:spcAft>
                <a:spcPts val="0"/>
              </a:spcAft>
              <a:buClr>
                <a:schemeClr val="dk1"/>
              </a:buClr>
              <a:buSzPts val="1300"/>
              <a:buChar char="●"/>
            </a:pPr>
            <a:r>
              <a:rPr lang="en" sz="1300">
                <a:solidFill>
                  <a:schemeClr val="dk1"/>
                </a:solidFill>
              </a:rPr>
              <a:t>Combining TD and MC Learning</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Policy Gradient</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311150" lvl="0" marL="640080" rtl="0" algn="l">
              <a:spcBef>
                <a:spcPts val="0"/>
              </a:spcBef>
              <a:spcAft>
                <a:spcPts val="0"/>
              </a:spcAft>
              <a:buClr>
                <a:schemeClr val="dk1"/>
              </a:buClr>
              <a:buSzPts val="1300"/>
              <a:buChar char="●"/>
            </a:pPr>
            <a:r>
              <a:rPr lang="en" sz="1300">
                <a:solidFill>
                  <a:schemeClr val="dk1"/>
                </a:solidFill>
              </a:rPr>
              <a:t>Policy Gradient Theorem</a:t>
            </a:r>
            <a:endParaRPr sz="1300">
              <a:solidFill>
                <a:schemeClr val="dk1"/>
              </a:solidFill>
            </a:endParaRPr>
          </a:p>
          <a:p>
            <a:pPr indent="-311150" lvl="0" marL="640080" rtl="0" algn="l">
              <a:spcBef>
                <a:spcPts val="0"/>
              </a:spcBef>
              <a:spcAft>
                <a:spcPts val="0"/>
              </a:spcAft>
              <a:buClr>
                <a:schemeClr val="dk1"/>
              </a:buClr>
              <a:buSzPts val="1300"/>
              <a:buChar char="●"/>
            </a:pPr>
            <a:r>
              <a:rPr lang="en" sz="1300">
                <a:solidFill>
                  <a:schemeClr val="dk1"/>
                </a:solidFill>
              </a:rPr>
              <a:t>REINFORCE</a:t>
            </a:r>
            <a:endParaRPr sz="1300">
              <a:solidFill>
                <a:schemeClr val="dk1"/>
              </a:solidFill>
            </a:endParaRPr>
          </a:p>
          <a:p>
            <a:pPr indent="-311150" lvl="0" marL="640080" rtl="0" algn="l">
              <a:spcBef>
                <a:spcPts val="0"/>
              </a:spcBef>
              <a:spcAft>
                <a:spcPts val="0"/>
              </a:spcAft>
              <a:buClr>
                <a:schemeClr val="dk1"/>
              </a:buClr>
              <a:buSzPts val="1300"/>
              <a:buChar char="●"/>
            </a:pPr>
            <a:r>
              <a:rPr lang="en" sz="1300">
                <a:solidFill>
                  <a:schemeClr val="dk1"/>
                </a:solidFill>
              </a:rPr>
              <a:t>Actor-Critic</a:t>
            </a:r>
            <a:endParaRPr sz="1300">
              <a:solidFill>
                <a:schemeClr val="dk1"/>
              </a:solidFill>
            </a:endParaRPr>
          </a:p>
          <a:p>
            <a:pPr indent="-311150" lvl="0" marL="640080" rtl="0" algn="l">
              <a:spcBef>
                <a:spcPts val="0"/>
              </a:spcBef>
              <a:spcAft>
                <a:spcPts val="0"/>
              </a:spcAft>
              <a:buClr>
                <a:schemeClr val="dk1"/>
              </a:buClr>
              <a:buSzPts val="1300"/>
              <a:buChar char="●"/>
            </a:pPr>
            <a:r>
              <a:rPr lang="en" sz="1300">
                <a:solidFill>
                  <a:schemeClr val="dk1"/>
                </a:solidFill>
              </a:rPr>
              <a:t>A3C</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Evolution Strategies</a:t>
            </a:r>
            <a:endParaRPr sz="1300">
              <a:solidFill>
                <a:schemeClr val="dk1"/>
              </a:solidFill>
            </a:endParaRPr>
          </a:p>
          <a:p>
            <a:pPr indent="0" lvl="0" marL="0" rtl="0" algn="l">
              <a:spcBef>
                <a:spcPts val="0"/>
              </a:spcBef>
              <a:spcAft>
                <a:spcPts val="0"/>
              </a:spcAft>
              <a:buNone/>
            </a:pPr>
            <a:r>
              <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nvSpPr>
        <p:spPr>
          <a:xfrm>
            <a:off x="151800" y="2849450"/>
            <a:ext cx="88404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300"/>
              <a:t>In </a:t>
            </a:r>
            <a:r>
              <a:rPr b="1" lang="en" sz="1300"/>
              <a:t>Policy Iteration</a:t>
            </a:r>
            <a:r>
              <a:rPr lang="en" sz="1300"/>
              <a:t> algorithms, you </a:t>
            </a:r>
            <a:r>
              <a:rPr b="1" lang="en" sz="1300"/>
              <a:t>start with a random policy</a:t>
            </a:r>
            <a:r>
              <a:rPr lang="en" sz="1300"/>
              <a:t>, then find the value function of that policy (policy evaluation step), then find an new (improved) policy based on the </a:t>
            </a:r>
            <a:r>
              <a:rPr b="1" lang="en" sz="1300"/>
              <a:t>previous</a:t>
            </a:r>
            <a:r>
              <a:rPr lang="en" sz="1300"/>
              <a:t> value function, and so on. In this process, each policy is guaranteed to be a strict improvement over the previous one (unless it is already optimal).</a:t>
            </a:r>
            <a:endParaRPr sz="1300"/>
          </a:p>
          <a:p>
            <a:pPr indent="0" lvl="0" marL="0" rtl="0" algn="l">
              <a:spcBef>
                <a:spcPts val="0"/>
              </a:spcBef>
              <a:spcAft>
                <a:spcPts val="0"/>
              </a:spcAft>
              <a:buNone/>
            </a:pPr>
            <a:r>
              <a:t/>
            </a:r>
            <a:endParaRPr sz="1300"/>
          </a:p>
          <a:p>
            <a:pPr indent="0" lvl="0" marL="0" rtl="0" algn="l">
              <a:spcBef>
                <a:spcPts val="0"/>
              </a:spcBef>
              <a:spcAft>
                <a:spcPts val="0"/>
              </a:spcAft>
              <a:buClr>
                <a:schemeClr val="dk1"/>
              </a:buClr>
              <a:buSzPts val="1100"/>
              <a:buFont typeface="Arial"/>
              <a:buNone/>
            </a:pPr>
            <a:r>
              <a:rPr lang="en" sz="1300"/>
              <a:t>In </a:t>
            </a:r>
            <a:r>
              <a:rPr b="1" lang="en" sz="1300"/>
              <a:t>Value Iteration</a:t>
            </a:r>
            <a:r>
              <a:rPr lang="en" sz="1300"/>
              <a:t>, you </a:t>
            </a:r>
            <a:r>
              <a:rPr b="1" lang="en" sz="1300"/>
              <a:t>start with a random value function</a:t>
            </a:r>
            <a:r>
              <a:rPr lang="en" sz="1300"/>
              <a:t> and then find a new (improved) value function in a iterative process, until reaching the optimal value function. Notice that you can derive easily the optimal policy from the optimal value function.</a:t>
            </a:r>
            <a:endParaRPr sz="1300"/>
          </a:p>
          <a:p>
            <a:pPr indent="0" lvl="0" marL="0" rtl="0" algn="l">
              <a:spcBef>
                <a:spcPts val="0"/>
              </a:spcBef>
              <a:spcAft>
                <a:spcPts val="0"/>
              </a:spcAft>
              <a:buNone/>
            </a:pPr>
            <a:r>
              <a:t/>
            </a:r>
            <a:endParaRPr sz="1300"/>
          </a:p>
          <a:p>
            <a:pPr indent="0" lvl="0" marL="0" rtl="0" algn="l">
              <a:spcBef>
                <a:spcPts val="0"/>
              </a:spcBef>
              <a:spcAft>
                <a:spcPts val="0"/>
              </a:spcAft>
              <a:buClr>
                <a:schemeClr val="dk1"/>
              </a:buClr>
              <a:buSzPts val="1100"/>
              <a:buFont typeface="Arial"/>
              <a:buNone/>
            </a:pPr>
            <a:r>
              <a:rPr b="1" lang="en" sz="1300"/>
              <a:t>Policy iteration is generally faster</a:t>
            </a:r>
            <a:r>
              <a:rPr lang="en" sz="1300"/>
              <a:t> than value iteration as policy converges more quickly than value function.</a:t>
            </a:r>
            <a:endParaRPr sz="1300"/>
          </a:p>
          <a:p>
            <a:pPr indent="0" lvl="0" marL="0" rtl="0" algn="l">
              <a:spcBef>
                <a:spcPts val="0"/>
              </a:spcBef>
              <a:spcAft>
                <a:spcPts val="0"/>
              </a:spcAft>
              <a:buNone/>
            </a:pPr>
            <a:r>
              <a:t/>
            </a:r>
            <a:endParaRPr sz="1300"/>
          </a:p>
        </p:txBody>
      </p:sp>
      <p:sp>
        <p:nvSpPr>
          <p:cNvPr id="102" name="Google Shape;102;p19"/>
          <p:cNvSpPr txBox="1"/>
          <p:nvPr/>
        </p:nvSpPr>
        <p:spPr>
          <a:xfrm>
            <a:off x="156750" y="27582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Model-based </a:t>
            </a:r>
            <a:endParaRPr b="1">
              <a:solidFill>
                <a:schemeClr val="dk1"/>
              </a:solidFill>
            </a:endParaRPr>
          </a:p>
          <a:p>
            <a:pPr indent="0" lvl="0" marL="0" rtl="0" algn="l">
              <a:spcBef>
                <a:spcPts val="0"/>
              </a:spcBef>
              <a:spcAft>
                <a:spcPts val="0"/>
              </a:spcAft>
              <a:buNone/>
            </a:pPr>
            <a:r>
              <a:rPr b="1" lang="en">
                <a:solidFill>
                  <a:schemeClr val="dk1"/>
                </a:solidFill>
              </a:rPr>
              <a:t>Dynamic Programming</a:t>
            </a:r>
            <a:endParaRPr b="1">
              <a:solidFill>
                <a:schemeClr val="dk1"/>
              </a:solidFill>
            </a:endParaRPr>
          </a:p>
        </p:txBody>
      </p:sp>
      <p:sp>
        <p:nvSpPr>
          <p:cNvPr id="103" name="Google Shape;103;p19"/>
          <p:cNvSpPr txBox="1"/>
          <p:nvPr/>
        </p:nvSpPr>
        <p:spPr>
          <a:xfrm>
            <a:off x="1126500" y="1454788"/>
            <a:ext cx="689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When the model is fully known, following Bellman equations, we can use Dynamic Programming (DP) to iteratively evaluate value functions and improve policy.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nvSpPr>
        <p:spPr>
          <a:xfrm>
            <a:off x="156750" y="275825"/>
            <a:ext cx="40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Monte Carlo: </a:t>
            </a:r>
            <a:r>
              <a:rPr b="1" lang="en">
                <a:solidFill>
                  <a:schemeClr val="dk1"/>
                </a:solidFill>
              </a:rPr>
              <a:t>Learn from experiences</a:t>
            </a:r>
            <a:endParaRPr b="1">
              <a:solidFill>
                <a:schemeClr val="dk1"/>
              </a:solidFill>
            </a:endParaRPr>
          </a:p>
        </p:txBody>
      </p:sp>
      <p:sp>
        <p:nvSpPr>
          <p:cNvPr id="109" name="Google Shape;109;p20"/>
          <p:cNvSpPr txBox="1"/>
          <p:nvPr/>
        </p:nvSpPr>
        <p:spPr>
          <a:xfrm>
            <a:off x="1126500" y="4121088"/>
            <a:ext cx="6891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Any method which solves a problem by generating suitable random numbers, and observing that fraction of numbers obeying some property or properties, can be classified as a Monte Carlo method.</a:t>
            </a:r>
            <a:endParaRPr/>
          </a:p>
        </p:txBody>
      </p:sp>
      <p:pic>
        <p:nvPicPr>
          <p:cNvPr id="110" name="Google Shape;110;p20"/>
          <p:cNvPicPr preferRelativeResize="0"/>
          <p:nvPr/>
        </p:nvPicPr>
        <p:blipFill>
          <a:blip r:embed="rId3">
            <a:alphaModFix/>
          </a:blip>
          <a:stretch>
            <a:fillRect/>
          </a:stretch>
        </p:blipFill>
        <p:spPr>
          <a:xfrm>
            <a:off x="1177700" y="1033000"/>
            <a:ext cx="3077488" cy="3077488"/>
          </a:xfrm>
          <a:prstGeom prst="rect">
            <a:avLst/>
          </a:prstGeom>
          <a:noFill/>
          <a:ln>
            <a:noFill/>
          </a:ln>
        </p:spPr>
      </p:pic>
      <p:pic>
        <p:nvPicPr>
          <p:cNvPr id="111" name="Google Shape;111;p20"/>
          <p:cNvPicPr preferRelativeResize="0"/>
          <p:nvPr/>
        </p:nvPicPr>
        <p:blipFill rotWithShape="1">
          <a:blip r:embed="rId4">
            <a:alphaModFix/>
          </a:blip>
          <a:srcRect b="0" l="0" r="0" t="25678"/>
          <a:stretch/>
        </p:blipFill>
        <p:spPr>
          <a:xfrm>
            <a:off x="5210000" y="1888384"/>
            <a:ext cx="1762125" cy="658375"/>
          </a:xfrm>
          <a:prstGeom prst="rect">
            <a:avLst/>
          </a:prstGeom>
          <a:noFill/>
          <a:ln>
            <a:noFill/>
          </a:ln>
        </p:spPr>
      </p:pic>
      <p:sp>
        <p:nvSpPr>
          <p:cNvPr id="112" name="Google Shape;112;p20"/>
          <p:cNvSpPr txBox="1"/>
          <p:nvPr/>
        </p:nvSpPr>
        <p:spPr>
          <a:xfrm>
            <a:off x="4672300" y="2654825"/>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50">
                <a:solidFill>
                  <a:srgbClr val="222222"/>
                </a:solidFill>
                <a:highlight>
                  <a:srgbClr val="FFFFFF"/>
                </a:highlight>
              </a:rPr>
              <a:t>N is the number of times a dot was put inside the circle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nvSpPr>
        <p:spPr>
          <a:xfrm>
            <a:off x="1126500" y="3892488"/>
            <a:ext cx="689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The Monte Carlo method for reinforcement learning learns directly from episodes of experience without any prior knowledge of MDP transitions.</a:t>
            </a:r>
            <a:endParaRPr/>
          </a:p>
        </p:txBody>
      </p:sp>
      <p:sp>
        <p:nvSpPr>
          <p:cNvPr id="118" name="Google Shape;118;p21"/>
          <p:cNvSpPr txBox="1"/>
          <p:nvPr/>
        </p:nvSpPr>
        <p:spPr>
          <a:xfrm>
            <a:off x="156750" y="275825"/>
            <a:ext cx="403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Monte Carlo off-policy vs. on-policy</a:t>
            </a:r>
            <a:endParaRPr b="1">
              <a:solidFill>
                <a:schemeClr val="dk1"/>
              </a:solidFill>
            </a:endParaRPr>
          </a:p>
        </p:txBody>
      </p:sp>
      <p:sp>
        <p:nvSpPr>
          <p:cNvPr id="119" name="Google Shape;119;p21"/>
          <p:cNvSpPr txBox="1"/>
          <p:nvPr/>
        </p:nvSpPr>
        <p:spPr>
          <a:xfrm>
            <a:off x="278100" y="1097988"/>
            <a:ext cx="8587800" cy="2566800"/>
          </a:xfrm>
          <a:prstGeom prst="rect">
            <a:avLst/>
          </a:prstGeom>
          <a:noFill/>
          <a:ln>
            <a:noFill/>
          </a:ln>
        </p:spPr>
        <p:txBody>
          <a:bodyPr anchorCtr="0" anchor="t" bIns="91425" lIns="91425" spcFirstLastPara="1" rIns="91425" wrap="square" tIns="91425">
            <a:spAutoFit/>
          </a:bodyPr>
          <a:lstStyle/>
          <a:p>
            <a:pPr indent="0" lvl="0" marL="0" rtl="0" algn="just">
              <a:lnSpc>
                <a:spcPct val="183333"/>
              </a:lnSpc>
              <a:spcBef>
                <a:spcPts val="0"/>
              </a:spcBef>
              <a:spcAft>
                <a:spcPts val="0"/>
              </a:spcAft>
              <a:buNone/>
            </a:pPr>
            <a:r>
              <a:rPr lang="en" sz="1350">
                <a:solidFill>
                  <a:srgbClr val="222222"/>
                </a:solidFill>
                <a:highlight>
                  <a:srgbClr val="FFFFFF"/>
                </a:highlight>
              </a:rPr>
              <a:t>The story of Monte Carlo learning does not end here. There is another set of algorithms under this which are called off policy Monte Carlo methods. Off policy methods try to learn an optimal policy using returns generated from another policy.</a:t>
            </a:r>
            <a:endParaRPr sz="1350">
              <a:solidFill>
                <a:srgbClr val="222222"/>
              </a:solidFill>
              <a:highlight>
                <a:srgbClr val="FFFFFF"/>
              </a:highlight>
            </a:endParaRPr>
          </a:p>
          <a:p>
            <a:pPr indent="0" lvl="0" marL="0" rtl="0" algn="just">
              <a:lnSpc>
                <a:spcPct val="183333"/>
              </a:lnSpc>
              <a:spcBef>
                <a:spcPts val="1200"/>
              </a:spcBef>
              <a:spcAft>
                <a:spcPts val="0"/>
              </a:spcAft>
              <a:buNone/>
            </a:pPr>
            <a:r>
              <a:rPr lang="en" sz="1350">
                <a:solidFill>
                  <a:srgbClr val="222222"/>
                </a:solidFill>
                <a:highlight>
                  <a:srgbClr val="FFFFFF"/>
                </a:highlight>
              </a:rPr>
              <a:t>The on policy methods is basically like learning while doing the job. Whereas off policy methods are like learning while watching other people doing the job.</a:t>
            </a:r>
            <a:endParaRPr sz="1350">
              <a:solidFill>
                <a:srgbClr val="222222"/>
              </a:solidFill>
              <a:highlight>
                <a:srgbClr val="FFFFFF"/>
              </a:highlight>
            </a:endParaRPr>
          </a:p>
          <a:p>
            <a:pPr indent="0" lvl="0" marL="0" rtl="0" algn="l">
              <a:lnSpc>
                <a:spcPct val="115000"/>
              </a:lnSpc>
              <a:spcBef>
                <a:spcPts val="1200"/>
              </a:spcBef>
              <a:spcAft>
                <a:spcPts val="0"/>
              </a:spcAft>
              <a:buNone/>
            </a:pPr>
            <a:r>
              <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