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italic.fntdata"/><Relationship Id="rId6" Type="http://schemas.openxmlformats.org/officeDocument/2006/relationships/slide" Target="slides/slide1.xml"/><Relationship Id="rId18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505ee3eb56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505ee3eb56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4d13cc5ced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4d13cc5ced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509b98ab6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509b98ab6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509b98ab66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509b98ab66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505ee3eb5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505ee3eb5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509b98ab66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509b98ab66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509b98ab66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509b98ab66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505ee3eb5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505ee3eb5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505ee3eb5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505ee3eb5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e4592ef4d7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1e4592ef4d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545450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Problem-solving searching review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2185350" y="2226175"/>
            <a:ext cx="446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What is the definition of agent and environment?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Which are the main environment dimensions?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What is a state?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What is an action space?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What is a policy?</a:t>
            </a:r>
            <a:endParaRPr/>
          </a:p>
        </p:txBody>
      </p:sp>
      <p:sp>
        <p:nvSpPr>
          <p:cNvPr id="60" name="Google Shape;60;p14"/>
          <p:cNvSpPr txBox="1"/>
          <p:nvPr>
            <p:ph type="ctrTitle"/>
          </p:nvPr>
        </p:nvSpPr>
        <p:spPr>
          <a:xfrm>
            <a:off x="2320375" y="427575"/>
            <a:ext cx="42912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Key Questions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/>
        </p:nvSpPr>
        <p:spPr>
          <a:xfrm>
            <a:off x="508425" y="415375"/>
            <a:ext cx="3477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Agent and Environment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" name="Google Shape;66;p15"/>
          <p:cNvSpPr txBox="1"/>
          <p:nvPr/>
        </p:nvSpPr>
        <p:spPr>
          <a:xfrm>
            <a:off x="623125" y="1331950"/>
            <a:ext cx="3325500" cy="26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highlight>
                  <a:schemeClr val="lt1"/>
                </a:highlight>
              </a:rPr>
              <a:t>An agent is an entity that perceives and acts within an environment.</a:t>
            </a:r>
            <a:endParaRPr sz="1800"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highlight>
                  <a:schemeClr val="lt1"/>
                </a:highlight>
              </a:rPr>
              <a:t>The environment includes everything outside of the agent, including any objects or agents it may interact with.</a:t>
            </a:r>
            <a:endParaRPr sz="1800">
              <a:highlight>
                <a:schemeClr val="lt1"/>
              </a:highlight>
            </a:endParaRPr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9100" y="1619250"/>
            <a:ext cx="542925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/>
        </p:nvSpPr>
        <p:spPr>
          <a:xfrm>
            <a:off x="508425" y="415375"/>
            <a:ext cx="3477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Agent and Environment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16"/>
          <p:cNvSpPr txBox="1"/>
          <p:nvPr/>
        </p:nvSpPr>
        <p:spPr>
          <a:xfrm>
            <a:off x="623125" y="1103350"/>
            <a:ext cx="3325500" cy="37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highlight>
                  <a:schemeClr val="lt1"/>
                </a:highlight>
              </a:rPr>
              <a:t>In "Reward is enough" the authors define an agent as a decision-making system that chooses actions based on sensory inputs.</a:t>
            </a:r>
            <a:endParaRPr sz="1700"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highlight>
                  <a:schemeClr val="lt1"/>
                </a:highlight>
              </a:rPr>
              <a:t>They define an environment as the set of all possible states in which an agent might find itself, along with the rules governing transitions between those states.</a:t>
            </a:r>
            <a:endParaRPr sz="1700">
              <a:highlight>
                <a:schemeClr val="lt1"/>
              </a:highlight>
            </a:endParaRPr>
          </a:p>
        </p:txBody>
      </p:sp>
      <p:pic>
        <p:nvPicPr>
          <p:cNvPr id="74" name="Google Shape;74;p16"/>
          <p:cNvPicPr preferRelativeResize="0"/>
          <p:nvPr/>
        </p:nvPicPr>
        <p:blipFill rotWithShape="1">
          <a:blip r:embed="rId3">
            <a:alphaModFix/>
          </a:blip>
          <a:srcRect b="0" l="379" r="4951" t="0"/>
          <a:stretch/>
        </p:blipFill>
        <p:spPr>
          <a:xfrm>
            <a:off x="3872425" y="1270625"/>
            <a:ext cx="5143598" cy="313567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4516450" y="299875"/>
            <a:ext cx="34779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Times New Roman"/>
                <a:ea typeface="Times New Roman"/>
                <a:cs typeface="Times New Roman"/>
                <a:sym typeface="Times New Roman"/>
              </a:rPr>
              <a:t>Reward is enough</a:t>
            </a:r>
            <a:endParaRPr b="1"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Times New Roman"/>
                <a:ea typeface="Times New Roman"/>
                <a:cs typeface="Times New Roman"/>
                <a:sym typeface="Times New Roman"/>
              </a:rPr>
              <a:t>David Silver, Satinder Singh, Doina Precup, Richard S. Sutton</a:t>
            </a:r>
            <a:endParaRPr b="1"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/>
        </p:nvSpPr>
        <p:spPr>
          <a:xfrm>
            <a:off x="785875" y="415375"/>
            <a:ext cx="3000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Main environment dimensions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623125" y="1484350"/>
            <a:ext cx="3325500" cy="22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highlight>
                  <a:schemeClr val="lt1"/>
                </a:highlight>
              </a:rPr>
              <a:t>The </a:t>
            </a:r>
            <a:r>
              <a:rPr b="1" lang="en" sz="1500">
                <a:highlight>
                  <a:schemeClr val="lt1"/>
                </a:highlight>
              </a:rPr>
              <a:t>main dimensions</a:t>
            </a:r>
            <a:r>
              <a:rPr lang="en" sz="1500">
                <a:highlight>
                  <a:schemeClr val="lt1"/>
                </a:highlight>
              </a:rPr>
              <a:t> of an </a:t>
            </a:r>
            <a:r>
              <a:rPr b="1" lang="en" sz="1500">
                <a:highlight>
                  <a:schemeClr val="lt1"/>
                </a:highlight>
              </a:rPr>
              <a:t>environment</a:t>
            </a:r>
            <a:r>
              <a:rPr lang="en" sz="1500">
                <a:highlight>
                  <a:schemeClr val="lt1"/>
                </a:highlight>
              </a:rPr>
              <a:t> are</a:t>
            </a:r>
            <a:endParaRPr sz="1500"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highlight>
                <a:schemeClr val="lt1"/>
              </a:highlight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>
                <a:highlight>
                  <a:schemeClr val="lt1"/>
                </a:highlight>
              </a:rPr>
              <a:t>Observations</a:t>
            </a:r>
            <a:r>
              <a:rPr lang="en" sz="1500">
                <a:highlight>
                  <a:schemeClr val="lt1"/>
                </a:highlight>
              </a:rPr>
              <a:t>: what the agent can see</a:t>
            </a:r>
            <a:endParaRPr sz="1500">
              <a:highlight>
                <a:schemeClr val="lt1"/>
              </a:highlight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>
                <a:highlight>
                  <a:schemeClr val="lt1"/>
                </a:highlight>
              </a:rPr>
              <a:t>Actions</a:t>
            </a:r>
            <a:r>
              <a:rPr lang="en" sz="1500">
                <a:highlight>
                  <a:schemeClr val="lt1"/>
                </a:highlight>
              </a:rPr>
              <a:t>: what the agent can do</a:t>
            </a:r>
            <a:endParaRPr sz="1500">
              <a:highlight>
                <a:schemeClr val="lt1"/>
              </a:highlight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>
                <a:highlight>
                  <a:schemeClr val="lt1"/>
                </a:highlight>
              </a:rPr>
              <a:t>Rewards</a:t>
            </a:r>
            <a:r>
              <a:rPr lang="en" sz="1500">
                <a:highlight>
                  <a:schemeClr val="lt1"/>
                </a:highlight>
              </a:rPr>
              <a:t>: what the agent gets for its actions</a:t>
            </a:r>
            <a:endParaRPr sz="1500">
              <a:highlight>
                <a:schemeClr val="lt1"/>
              </a:highlight>
            </a:endParaRPr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2575" y="1473588"/>
            <a:ext cx="4890575" cy="219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/>
        </p:nvSpPr>
        <p:spPr>
          <a:xfrm>
            <a:off x="574050" y="466225"/>
            <a:ext cx="2985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State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8"/>
          <p:cNvSpPr txBox="1"/>
          <p:nvPr/>
        </p:nvSpPr>
        <p:spPr>
          <a:xfrm>
            <a:off x="403800" y="1660950"/>
            <a:ext cx="33255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A state is a description of everything relevant to the agent at a particular point in time, including the current state of the environment and the agent's own internal state.</a:t>
            </a:r>
            <a:endParaRPr sz="15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6275" y="1401763"/>
            <a:ext cx="5109900" cy="19958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/>
        </p:nvSpPr>
        <p:spPr>
          <a:xfrm>
            <a:off x="574050" y="466225"/>
            <a:ext cx="2985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Action Space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9"/>
          <p:cNvSpPr txBox="1"/>
          <p:nvPr/>
        </p:nvSpPr>
        <p:spPr>
          <a:xfrm>
            <a:off x="403800" y="1660950"/>
            <a:ext cx="33255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An action space is the set of all possible actions that an agent can take in a given environment.</a:t>
            </a:r>
            <a:endParaRPr sz="15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8226" y="791725"/>
            <a:ext cx="5175727" cy="31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/>
        </p:nvSpPr>
        <p:spPr>
          <a:xfrm>
            <a:off x="574050" y="466225"/>
            <a:ext cx="2985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Policy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20"/>
          <p:cNvSpPr txBox="1"/>
          <p:nvPr/>
        </p:nvSpPr>
        <p:spPr>
          <a:xfrm>
            <a:off x="403800" y="1660950"/>
            <a:ext cx="33255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A policy is a function that maps each state to a probability distribution over possible actions. In other words, it tells the agent what action to take in each state.</a:t>
            </a:r>
            <a:endParaRPr sz="15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4518" y="571625"/>
            <a:ext cx="4637300" cy="35327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/>
        </p:nvSpPr>
        <p:spPr>
          <a:xfrm>
            <a:off x="403800" y="1432350"/>
            <a:ext cx="3325500" cy="3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Uninformed Search Algorithms: 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Breadth-First Search (BFS)</a:t>
            </a:r>
            <a:b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</a:b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Depth-First Search (DFS)</a:t>
            </a:r>
            <a:b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</a:b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Depth-Limited Search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Informed Search Algorithms: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A* Search</a:t>
            </a:r>
            <a:b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</a:b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Greedy Search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Local Search Algorithms: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Hill Climbing</a:t>
            </a:r>
            <a:b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</a:b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Simulated Annealing</a:t>
            </a:r>
            <a:b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</a:b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Genetic Algorithms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" name="Google Shape;109;p21"/>
          <p:cNvSpPr txBox="1"/>
          <p:nvPr/>
        </p:nvSpPr>
        <p:spPr>
          <a:xfrm>
            <a:off x="574050" y="466225"/>
            <a:ext cx="2985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Problem-solving searching review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9300" y="869050"/>
            <a:ext cx="5109902" cy="34053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/>
        </p:nvSpPr>
        <p:spPr>
          <a:xfrm>
            <a:off x="574050" y="466225"/>
            <a:ext cx="2985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Taxi Driver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6" name="Google Shape;11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0849" y="0"/>
            <a:ext cx="397315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2"/>
          <p:cNvSpPr txBox="1"/>
          <p:nvPr/>
        </p:nvSpPr>
        <p:spPr>
          <a:xfrm>
            <a:off x="403800" y="1660950"/>
            <a:ext cx="33255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</a:rPr>
              <a:t>Grid Board/World</a:t>
            </a:r>
            <a:br>
              <a:rPr b="1" lang="en" sz="1500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</a:rPr>
              <a:t>Car</a:t>
            </a:r>
            <a:br>
              <a:rPr b="1" lang="en" sz="1500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</a:rPr>
              <a:t>Barrier</a:t>
            </a:r>
            <a:br>
              <a:rPr b="1" lang="en" sz="1500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</a:rPr>
              <a:t>Passenger</a:t>
            </a:r>
            <a:br>
              <a:rPr b="1" lang="en" sz="1500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</a:rPr>
              <a:t>Target</a:t>
            </a:r>
            <a:endParaRPr sz="15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118" name="Google Shape;11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32675" y="3572375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13675" y="2689650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08875" y="10158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2"/>
          <p:cNvSpPr txBox="1"/>
          <p:nvPr/>
        </p:nvSpPr>
        <p:spPr>
          <a:xfrm>
            <a:off x="4957850" y="3694625"/>
            <a:ext cx="28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122" name="Google Shape;122;p22"/>
          <p:cNvSpPr txBox="1"/>
          <p:nvPr/>
        </p:nvSpPr>
        <p:spPr>
          <a:xfrm>
            <a:off x="4968675" y="2811900"/>
            <a:ext cx="28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23" name="Google Shape;123;p22"/>
          <p:cNvSpPr txBox="1"/>
          <p:nvPr/>
        </p:nvSpPr>
        <p:spPr>
          <a:xfrm>
            <a:off x="4963263" y="1929175"/>
            <a:ext cx="28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24" name="Google Shape;124;p22"/>
          <p:cNvSpPr txBox="1"/>
          <p:nvPr/>
        </p:nvSpPr>
        <p:spPr>
          <a:xfrm>
            <a:off x="4974088" y="1046450"/>
            <a:ext cx="28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25" name="Google Shape;125;p22"/>
          <p:cNvSpPr txBox="1"/>
          <p:nvPr/>
        </p:nvSpPr>
        <p:spPr>
          <a:xfrm>
            <a:off x="5692875" y="4486175"/>
            <a:ext cx="28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126" name="Google Shape;126;p22"/>
          <p:cNvSpPr txBox="1"/>
          <p:nvPr/>
        </p:nvSpPr>
        <p:spPr>
          <a:xfrm>
            <a:off x="6560500" y="4486175"/>
            <a:ext cx="28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7473875" y="4486175"/>
            <a:ext cx="28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28" name="Google Shape;128;p22"/>
          <p:cNvSpPr txBox="1"/>
          <p:nvPr/>
        </p:nvSpPr>
        <p:spPr>
          <a:xfrm>
            <a:off x="8387250" y="4486175"/>
            <a:ext cx="28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cxnSp>
        <p:nvCxnSpPr>
          <p:cNvPr id="129" name="Google Shape;129;p22"/>
          <p:cNvCxnSpPr/>
          <p:nvPr/>
        </p:nvCxnSpPr>
        <p:spPr>
          <a:xfrm flipH="1">
            <a:off x="4960775" y="4329375"/>
            <a:ext cx="441300" cy="44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" name="Google Shape;130;p22"/>
          <p:cNvSpPr txBox="1"/>
          <p:nvPr/>
        </p:nvSpPr>
        <p:spPr>
          <a:xfrm>
            <a:off x="5125100" y="4486175"/>
            <a:ext cx="28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</a:t>
            </a:r>
            <a:endParaRPr/>
          </a:p>
        </p:txBody>
      </p:sp>
      <p:sp>
        <p:nvSpPr>
          <p:cNvPr id="131" name="Google Shape;131;p22"/>
          <p:cNvSpPr txBox="1"/>
          <p:nvPr/>
        </p:nvSpPr>
        <p:spPr>
          <a:xfrm>
            <a:off x="4957850" y="4258175"/>
            <a:ext cx="28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</a:t>
            </a:r>
            <a:endParaRPr/>
          </a:p>
        </p:txBody>
      </p:sp>
      <p:pic>
        <p:nvPicPr>
          <p:cNvPr id="132" name="Google Shape;132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608875" y="2751000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/>
        </p:nvSpPr>
        <p:spPr>
          <a:xfrm>
            <a:off x="574050" y="466225"/>
            <a:ext cx="2985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Taxi Driver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8" name="Google Shape;13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0849" y="0"/>
            <a:ext cx="397315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3"/>
          <p:cNvSpPr txBox="1"/>
          <p:nvPr/>
        </p:nvSpPr>
        <p:spPr>
          <a:xfrm>
            <a:off x="403800" y="1660950"/>
            <a:ext cx="33255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</a:rPr>
              <a:t>Grid Board/World</a:t>
            </a:r>
            <a:br>
              <a:rPr b="1" lang="en" sz="1500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</a:rPr>
              <a:t>Car</a:t>
            </a:r>
            <a:br>
              <a:rPr b="1" lang="en" sz="1500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</a:rPr>
              <a:t>Barrier</a:t>
            </a:r>
            <a:br>
              <a:rPr b="1" lang="en" sz="1500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</a:rPr>
              <a:t>Passenger</a:t>
            </a:r>
            <a:br>
              <a:rPr b="1" lang="en" sz="1500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</a:rPr>
              <a:t>Target</a:t>
            </a:r>
            <a:endParaRPr sz="15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140" name="Google Shape;14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32675" y="3572375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13675" y="2689650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08875" y="10158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3"/>
          <p:cNvSpPr txBox="1"/>
          <p:nvPr/>
        </p:nvSpPr>
        <p:spPr>
          <a:xfrm>
            <a:off x="4957850" y="3694625"/>
            <a:ext cx="28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144" name="Google Shape;144;p23"/>
          <p:cNvSpPr txBox="1"/>
          <p:nvPr/>
        </p:nvSpPr>
        <p:spPr>
          <a:xfrm>
            <a:off x="4968675" y="2811900"/>
            <a:ext cx="28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45" name="Google Shape;145;p23"/>
          <p:cNvSpPr txBox="1"/>
          <p:nvPr/>
        </p:nvSpPr>
        <p:spPr>
          <a:xfrm>
            <a:off x="4963263" y="1929175"/>
            <a:ext cx="28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46" name="Google Shape;146;p23"/>
          <p:cNvSpPr txBox="1"/>
          <p:nvPr/>
        </p:nvSpPr>
        <p:spPr>
          <a:xfrm>
            <a:off x="4974088" y="1046450"/>
            <a:ext cx="28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47" name="Google Shape;147;p23"/>
          <p:cNvSpPr txBox="1"/>
          <p:nvPr/>
        </p:nvSpPr>
        <p:spPr>
          <a:xfrm>
            <a:off x="5692875" y="4486175"/>
            <a:ext cx="28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148" name="Google Shape;148;p23"/>
          <p:cNvSpPr txBox="1"/>
          <p:nvPr/>
        </p:nvSpPr>
        <p:spPr>
          <a:xfrm>
            <a:off x="6560500" y="4486175"/>
            <a:ext cx="28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49" name="Google Shape;149;p23"/>
          <p:cNvSpPr txBox="1"/>
          <p:nvPr/>
        </p:nvSpPr>
        <p:spPr>
          <a:xfrm>
            <a:off x="7473875" y="4486175"/>
            <a:ext cx="28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50" name="Google Shape;150;p23"/>
          <p:cNvSpPr txBox="1"/>
          <p:nvPr/>
        </p:nvSpPr>
        <p:spPr>
          <a:xfrm>
            <a:off x="8387250" y="4486175"/>
            <a:ext cx="28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cxnSp>
        <p:nvCxnSpPr>
          <p:cNvPr id="151" name="Google Shape;151;p23"/>
          <p:cNvCxnSpPr/>
          <p:nvPr/>
        </p:nvCxnSpPr>
        <p:spPr>
          <a:xfrm flipH="1">
            <a:off x="4960775" y="4329375"/>
            <a:ext cx="441300" cy="44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" name="Google Shape;152;p23"/>
          <p:cNvSpPr txBox="1"/>
          <p:nvPr/>
        </p:nvSpPr>
        <p:spPr>
          <a:xfrm>
            <a:off x="5125100" y="4486175"/>
            <a:ext cx="28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</a:t>
            </a:r>
            <a:endParaRPr/>
          </a:p>
        </p:txBody>
      </p:sp>
      <p:sp>
        <p:nvSpPr>
          <p:cNvPr id="153" name="Google Shape;153;p23"/>
          <p:cNvSpPr txBox="1"/>
          <p:nvPr/>
        </p:nvSpPr>
        <p:spPr>
          <a:xfrm>
            <a:off x="4957850" y="4258175"/>
            <a:ext cx="28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</a:t>
            </a:r>
            <a:endParaRPr/>
          </a:p>
        </p:txBody>
      </p:sp>
      <p:pic>
        <p:nvPicPr>
          <p:cNvPr id="154" name="Google Shape;154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608875" y="2751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608875" y="18834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89875" y="36485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19250" y="27658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99375" y="1883425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