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05ee3eb56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05ee3eb56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4d13cc5ced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4d13cc5ce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56a045e3b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56a045e3b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56a045e3bb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56a045e3b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56a045e3bb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56a045e3bb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6a045e3bb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56a045e3bb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56a045e3bb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56a045e3b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56a045e3bb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56a045e3bb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56a045e3bb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56a045e3bb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56a045e3bb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56a045e3bb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56a045e3bb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56a045e3bb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56a045e3bb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56a045e3bb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56a045e3bb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56a045e3bb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56a045e3bb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56a045e3bb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56a045e3bb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56a045e3bb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Adversarial search and games review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5373" y="946027"/>
            <a:ext cx="5833251" cy="325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/>
        </p:nvSpPr>
        <p:spPr>
          <a:xfrm>
            <a:off x="508425" y="415375"/>
            <a:ext cx="3477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Adversarial Games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508425" y="1062125"/>
            <a:ext cx="3477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Types of</a:t>
            </a: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 Games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15"/>
          <p:cNvSpPr txBox="1"/>
          <p:nvPr/>
        </p:nvSpPr>
        <p:spPr>
          <a:xfrm>
            <a:off x="747375" y="1666300"/>
            <a:ext cx="30000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Deterministic or stochastic?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One, two, or more players?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Zero sum?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Perfect information (can you see the state)?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Want algorithms for calculating a strategy (policy) which recommends a move from each state</a:t>
            </a:r>
            <a:endParaRPr sz="1600"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9785" y="2523050"/>
            <a:ext cx="2904425" cy="1821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0475" y="496700"/>
            <a:ext cx="2563024" cy="178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/>
        </p:nvSpPr>
        <p:spPr>
          <a:xfrm>
            <a:off x="508425" y="415375"/>
            <a:ext cx="3477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Deterministic</a:t>
            </a: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 Games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278025" y="1587875"/>
            <a:ext cx="3938700" cy="26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States: S (start at s0)</a:t>
            </a:r>
            <a:br>
              <a:rPr lang="en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Players: P={1...N} (usually take turns)</a:t>
            </a:r>
            <a:br>
              <a:rPr lang="en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Actions: A (may depend on player / state)</a:t>
            </a:r>
            <a:br>
              <a:rPr lang="en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Transition Function: SxA </a:t>
            </a:r>
            <a:r>
              <a:rPr lang="en" sz="1500">
                <a:solidFill>
                  <a:schemeClr val="dk1"/>
                </a:solidFill>
              </a:rPr>
              <a:t>→</a:t>
            </a:r>
            <a:r>
              <a:rPr lang="en"/>
              <a:t> S</a:t>
            </a:r>
            <a:br>
              <a:rPr lang="en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Terminal Test: S </a:t>
            </a:r>
            <a:r>
              <a:rPr lang="en" sz="1500">
                <a:solidFill>
                  <a:schemeClr val="dk1"/>
                </a:solidFill>
              </a:rPr>
              <a:t>→</a:t>
            </a:r>
            <a:r>
              <a:rPr lang="en"/>
              <a:t> {true, false}</a:t>
            </a:r>
            <a:br>
              <a:rPr lang="en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Terminal Utilities: SxP </a:t>
            </a:r>
            <a:r>
              <a:rPr lang="en" sz="1500">
                <a:solidFill>
                  <a:schemeClr val="dk1"/>
                </a:solidFill>
              </a:rPr>
              <a:t>→</a:t>
            </a:r>
            <a:r>
              <a:rPr lang="en"/>
              <a:t> R</a:t>
            </a:r>
            <a:endParaRPr sz="1600"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6475" y="1407325"/>
            <a:ext cx="2058700" cy="22084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2602650" y="4398425"/>
            <a:ext cx="3938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Solution for a player is a policy: S </a:t>
            </a:r>
            <a:r>
              <a:rPr lang="en" sz="1500">
                <a:solidFill>
                  <a:schemeClr val="dk1"/>
                </a:solidFill>
              </a:rPr>
              <a:t>→</a:t>
            </a:r>
            <a:r>
              <a:rPr lang="en" sz="1500"/>
              <a:t> A</a:t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/>
        </p:nvSpPr>
        <p:spPr>
          <a:xfrm>
            <a:off x="3349125" y="2673825"/>
            <a:ext cx="27753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General</a:t>
            </a:r>
            <a:r>
              <a:rPr b="1" lang="en"/>
              <a:t> Games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Agents have independent utilities (values on outcomes)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Cooperation, indifference, competition, and more are all possible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508425" y="415375"/>
            <a:ext cx="3477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Zero-Sum</a:t>
            </a: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 Games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356025" y="2673825"/>
            <a:ext cx="29931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Zero-Sum Games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Agents have opposite utilities (values on outcomes)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Lets us think of a single value that one maximizes and the other minimizes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Adversarial, pure competition</a:t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3800" y="1175538"/>
            <a:ext cx="2280925" cy="114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498" y="923098"/>
            <a:ext cx="5824797" cy="149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/>
          <p:nvPr/>
        </p:nvSpPr>
        <p:spPr>
          <a:xfrm>
            <a:off x="6303175" y="2673825"/>
            <a:ext cx="2775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Zero-Sum Example</a:t>
            </a:r>
            <a:r>
              <a:rPr b="1" lang="en"/>
              <a:t> Game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lang="en"/>
              <a:t>situation that involves two sides, where the result is an advantage for one side and an equivalent loss for the other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/>
        </p:nvSpPr>
        <p:spPr>
          <a:xfrm>
            <a:off x="508425" y="415375"/>
            <a:ext cx="3477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Single-Agent Trees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7909" y="1232930"/>
            <a:ext cx="6188175" cy="328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/>
        </p:nvSpPr>
        <p:spPr>
          <a:xfrm>
            <a:off x="508425" y="415375"/>
            <a:ext cx="3477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Value of a State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7487" y="1223300"/>
            <a:ext cx="7409025" cy="354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/>
        </p:nvSpPr>
        <p:spPr>
          <a:xfrm>
            <a:off x="508425" y="415375"/>
            <a:ext cx="3477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Adversarial Game Trees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3125" y="1279600"/>
            <a:ext cx="6177749" cy="3346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/>
        </p:nvSpPr>
        <p:spPr>
          <a:xfrm>
            <a:off x="508425" y="415375"/>
            <a:ext cx="3477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Minimax Values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5719" y="1217849"/>
            <a:ext cx="6932557" cy="3346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/>
        </p:nvSpPr>
        <p:spPr>
          <a:xfrm>
            <a:off x="508425" y="415375"/>
            <a:ext cx="3477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Tic-Tac-Toe Game Tree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6" name="Google Shape;1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338" y="1045675"/>
            <a:ext cx="7723336" cy="386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/>
        </p:nvSpPr>
        <p:spPr>
          <a:xfrm>
            <a:off x="508425" y="415375"/>
            <a:ext cx="828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Adversarial Search (Minimax) and Implementation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2" name="Google Shape;12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900" y="1326699"/>
            <a:ext cx="2591650" cy="335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1500" y="1697775"/>
            <a:ext cx="6016651" cy="2764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49500" y="4415825"/>
            <a:ext cx="6271950" cy="64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/>
        </p:nvSpPr>
        <p:spPr>
          <a:xfrm>
            <a:off x="508425" y="415375"/>
            <a:ext cx="828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Minimax Example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0" name="Google Shape;13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1615" y="1541074"/>
            <a:ext cx="7340776" cy="2873377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4"/>
          <p:cNvSpPr/>
          <p:nvPr/>
        </p:nvSpPr>
        <p:spPr>
          <a:xfrm>
            <a:off x="3577050" y="1996177"/>
            <a:ext cx="679800" cy="265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Max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132" name="Google Shape;132;p24"/>
          <p:cNvSpPr/>
          <p:nvPr/>
        </p:nvSpPr>
        <p:spPr>
          <a:xfrm>
            <a:off x="1298225" y="2845164"/>
            <a:ext cx="679800" cy="265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Min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133" name="Google Shape;133;p24"/>
          <p:cNvSpPr/>
          <p:nvPr/>
        </p:nvSpPr>
        <p:spPr>
          <a:xfrm>
            <a:off x="618425" y="3725727"/>
            <a:ext cx="679800" cy="265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Max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134" name="Google Shape;134;p24"/>
          <p:cNvSpPr/>
          <p:nvPr/>
        </p:nvSpPr>
        <p:spPr>
          <a:xfrm>
            <a:off x="3500850" y="2845164"/>
            <a:ext cx="679800" cy="265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Min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135" name="Google Shape;135;p24"/>
          <p:cNvSpPr/>
          <p:nvPr/>
        </p:nvSpPr>
        <p:spPr>
          <a:xfrm>
            <a:off x="5703475" y="2845164"/>
            <a:ext cx="679800" cy="265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Min</a:t>
            </a:r>
            <a:endParaRPr sz="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/>
        </p:nvSpPr>
        <p:spPr>
          <a:xfrm>
            <a:off x="508425" y="415375"/>
            <a:ext cx="828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Minimax Example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1" name="Google Shape;14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1615" y="1541074"/>
            <a:ext cx="7340776" cy="2873377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5"/>
          <p:cNvSpPr txBox="1"/>
          <p:nvPr/>
        </p:nvSpPr>
        <p:spPr>
          <a:xfrm>
            <a:off x="2246025" y="2810969"/>
            <a:ext cx="3987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43" name="Google Shape;143;p25"/>
          <p:cNvSpPr/>
          <p:nvPr/>
        </p:nvSpPr>
        <p:spPr>
          <a:xfrm>
            <a:off x="3577050" y="1996177"/>
            <a:ext cx="679800" cy="265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Max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144" name="Google Shape;144;p25"/>
          <p:cNvSpPr/>
          <p:nvPr/>
        </p:nvSpPr>
        <p:spPr>
          <a:xfrm>
            <a:off x="1298225" y="2845164"/>
            <a:ext cx="679800" cy="265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Min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145" name="Google Shape;145;p25"/>
          <p:cNvSpPr/>
          <p:nvPr/>
        </p:nvSpPr>
        <p:spPr>
          <a:xfrm>
            <a:off x="618425" y="3725727"/>
            <a:ext cx="679800" cy="265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Max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146" name="Google Shape;146;p25"/>
          <p:cNvSpPr/>
          <p:nvPr/>
        </p:nvSpPr>
        <p:spPr>
          <a:xfrm>
            <a:off x="3500850" y="2845164"/>
            <a:ext cx="679800" cy="265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Min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147" name="Google Shape;147;p25"/>
          <p:cNvSpPr/>
          <p:nvPr/>
        </p:nvSpPr>
        <p:spPr>
          <a:xfrm>
            <a:off x="5703475" y="2845164"/>
            <a:ext cx="679800" cy="265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Min</a:t>
            </a:r>
            <a:endParaRPr sz="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/>
        </p:nvSpPr>
        <p:spPr>
          <a:xfrm>
            <a:off x="508425" y="415375"/>
            <a:ext cx="828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Minimax Example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3" name="Google Shape;15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1615" y="1541074"/>
            <a:ext cx="7340776" cy="2873377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6"/>
          <p:cNvSpPr txBox="1"/>
          <p:nvPr/>
        </p:nvSpPr>
        <p:spPr>
          <a:xfrm>
            <a:off x="2246025" y="2810969"/>
            <a:ext cx="3987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55" name="Google Shape;155;p26"/>
          <p:cNvSpPr txBox="1"/>
          <p:nvPr/>
        </p:nvSpPr>
        <p:spPr>
          <a:xfrm>
            <a:off x="4419525" y="2780506"/>
            <a:ext cx="3987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56" name="Google Shape;156;p26"/>
          <p:cNvSpPr/>
          <p:nvPr/>
        </p:nvSpPr>
        <p:spPr>
          <a:xfrm>
            <a:off x="3577050" y="1996177"/>
            <a:ext cx="679800" cy="265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Max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157" name="Google Shape;157;p26"/>
          <p:cNvSpPr/>
          <p:nvPr/>
        </p:nvSpPr>
        <p:spPr>
          <a:xfrm>
            <a:off x="1298225" y="2845164"/>
            <a:ext cx="679800" cy="265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Min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158" name="Google Shape;158;p26"/>
          <p:cNvSpPr/>
          <p:nvPr/>
        </p:nvSpPr>
        <p:spPr>
          <a:xfrm>
            <a:off x="618425" y="3725727"/>
            <a:ext cx="679800" cy="265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Max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159" name="Google Shape;159;p26"/>
          <p:cNvSpPr/>
          <p:nvPr/>
        </p:nvSpPr>
        <p:spPr>
          <a:xfrm>
            <a:off x="3500850" y="2845164"/>
            <a:ext cx="679800" cy="265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Min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160" name="Google Shape;160;p26"/>
          <p:cNvSpPr/>
          <p:nvPr/>
        </p:nvSpPr>
        <p:spPr>
          <a:xfrm>
            <a:off x="5703475" y="2845164"/>
            <a:ext cx="679800" cy="265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Min</a:t>
            </a:r>
            <a:endParaRPr sz="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/>
        </p:nvSpPr>
        <p:spPr>
          <a:xfrm>
            <a:off x="508425" y="415375"/>
            <a:ext cx="828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Minimax Example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6" name="Google Shape;16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1615" y="1541074"/>
            <a:ext cx="7340776" cy="2873377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7"/>
          <p:cNvSpPr txBox="1"/>
          <p:nvPr/>
        </p:nvSpPr>
        <p:spPr>
          <a:xfrm>
            <a:off x="2246025" y="2810969"/>
            <a:ext cx="3987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68" name="Google Shape;168;p27"/>
          <p:cNvSpPr txBox="1"/>
          <p:nvPr/>
        </p:nvSpPr>
        <p:spPr>
          <a:xfrm>
            <a:off x="4419525" y="2780506"/>
            <a:ext cx="3987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69" name="Google Shape;169;p27"/>
          <p:cNvSpPr txBox="1"/>
          <p:nvPr/>
        </p:nvSpPr>
        <p:spPr>
          <a:xfrm>
            <a:off x="6593025" y="2810981"/>
            <a:ext cx="3987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70" name="Google Shape;170;p27"/>
          <p:cNvSpPr/>
          <p:nvPr/>
        </p:nvSpPr>
        <p:spPr>
          <a:xfrm>
            <a:off x="3577050" y="1996177"/>
            <a:ext cx="679800" cy="265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Max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171" name="Google Shape;171;p27"/>
          <p:cNvSpPr/>
          <p:nvPr/>
        </p:nvSpPr>
        <p:spPr>
          <a:xfrm>
            <a:off x="1298225" y="2845164"/>
            <a:ext cx="679800" cy="265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Min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172" name="Google Shape;172;p27"/>
          <p:cNvSpPr/>
          <p:nvPr/>
        </p:nvSpPr>
        <p:spPr>
          <a:xfrm>
            <a:off x="618425" y="3725727"/>
            <a:ext cx="679800" cy="265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Max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173" name="Google Shape;173;p27"/>
          <p:cNvSpPr/>
          <p:nvPr/>
        </p:nvSpPr>
        <p:spPr>
          <a:xfrm>
            <a:off x="3500850" y="2845164"/>
            <a:ext cx="679800" cy="265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Min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174" name="Google Shape;174;p27"/>
          <p:cNvSpPr/>
          <p:nvPr/>
        </p:nvSpPr>
        <p:spPr>
          <a:xfrm>
            <a:off x="5703475" y="2845164"/>
            <a:ext cx="679800" cy="265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Min</a:t>
            </a:r>
            <a:endParaRPr sz="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/>
          <p:nvPr/>
        </p:nvSpPr>
        <p:spPr>
          <a:xfrm>
            <a:off x="508425" y="415375"/>
            <a:ext cx="828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Minimax Example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0" name="Google Shape;18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1615" y="1541074"/>
            <a:ext cx="7340776" cy="2873377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8"/>
          <p:cNvSpPr txBox="1"/>
          <p:nvPr/>
        </p:nvSpPr>
        <p:spPr>
          <a:xfrm>
            <a:off x="2246025" y="2810969"/>
            <a:ext cx="3987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82" name="Google Shape;182;p28"/>
          <p:cNvSpPr txBox="1"/>
          <p:nvPr/>
        </p:nvSpPr>
        <p:spPr>
          <a:xfrm>
            <a:off x="4419525" y="2780506"/>
            <a:ext cx="3987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83" name="Google Shape;183;p28"/>
          <p:cNvSpPr txBox="1"/>
          <p:nvPr/>
        </p:nvSpPr>
        <p:spPr>
          <a:xfrm>
            <a:off x="6593025" y="2810981"/>
            <a:ext cx="3987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84" name="Google Shape;184;p28"/>
          <p:cNvSpPr txBox="1"/>
          <p:nvPr/>
        </p:nvSpPr>
        <p:spPr>
          <a:xfrm>
            <a:off x="4419525" y="1946031"/>
            <a:ext cx="3987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85" name="Google Shape;185;p28"/>
          <p:cNvSpPr/>
          <p:nvPr/>
        </p:nvSpPr>
        <p:spPr>
          <a:xfrm>
            <a:off x="3577050" y="1996177"/>
            <a:ext cx="679800" cy="265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Max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186" name="Google Shape;186;p28"/>
          <p:cNvSpPr/>
          <p:nvPr/>
        </p:nvSpPr>
        <p:spPr>
          <a:xfrm>
            <a:off x="1298225" y="2845164"/>
            <a:ext cx="679800" cy="265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Min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187" name="Google Shape;187;p28"/>
          <p:cNvSpPr/>
          <p:nvPr/>
        </p:nvSpPr>
        <p:spPr>
          <a:xfrm>
            <a:off x="618425" y="3725727"/>
            <a:ext cx="679800" cy="265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Max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188" name="Google Shape;188;p28"/>
          <p:cNvSpPr/>
          <p:nvPr/>
        </p:nvSpPr>
        <p:spPr>
          <a:xfrm>
            <a:off x="3500850" y="2845164"/>
            <a:ext cx="679800" cy="265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Min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189" name="Google Shape;189;p28"/>
          <p:cNvSpPr/>
          <p:nvPr/>
        </p:nvSpPr>
        <p:spPr>
          <a:xfrm>
            <a:off x="5703475" y="2845164"/>
            <a:ext cx="679800" cy="265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Min</a:t>
            </a:r>
            <a:endParaRPr sz="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