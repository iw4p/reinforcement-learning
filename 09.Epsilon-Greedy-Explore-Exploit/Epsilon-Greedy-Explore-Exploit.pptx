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05ee3eb5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05ee3eb5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8d589bb3b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8d589bb3b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8d589bb3b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8d589bb3b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8d589bb3b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8d589bb3b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8d589bb3b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8d589bb3b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8d589bb3b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8d589bb3b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8d589bb3b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8d589bb3b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8d589bb3b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8d589bb3b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8d589bb3b0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8d589bb3b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8d589bb3b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8d589bb3b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Exploration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vs.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Exploitation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09125" y="309100"/>
            <a:ext cx="457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Exploration / Exploitation Tradeoff</a:t>
            </a:r>
            <a:endParaRPr b="1"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450" y="868350"/>
            <a:ext cx="6823104" cy="412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075" y="808012"/>
            <a:ext cx="6967850" cy="352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/>
        </p:nvSpPr>
        <p:spPr>
          <a:xfrm>
            <a:off x="1945500" y="3568850"/>
            <a:ext cx="52530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900"/>
              </a:spcAft>
              <a:buNone/>
            </a:pPr>
            <a:r>
              <a:rPr lang="en" sz="1300">
                <a:solidFill>
                  <a:srgbClr val="252525"/>
                </a:solidFill>
                <a:highlight>
                  <a:srgbClr val="FFFFFF"/>
                </a:highlight>
              </a:rPr>
              <a:t>When you go to the restaurant you always have a choice:</a:t>
            </a:r>
            <a:br>
              <a:rPr lang="en" sz="1300">
                <a:solidFill>
                  <a:srgbClr val="252525"/>
                </a:solidFill>
                <a:highlight>
                  <a:srgbClr val="FFFFFF"/>
                </a:highlight>
              </a:rPr>
            </a:br>
            <a:r>
              <a:rPr lang="en" sz="1300">
                <a:solidFill>
                  <a:srgbClr val="252525"/>
                </a:solidFill>
                <a:highlight>
                  <a:srgbClr val="FFFFFF"/>
                </a:highlight>
              </a:rPr>
              <a:t>should you eat something you know is pretty good (exploit)</a:t>
            </a:r>
            <a:br>
              <a:rPr lang="en" sz="1300">
                <a:solidFill>
                  <a:srgbClr val="252525"/>
                </a:solidFill>
                <a:highlight>
                  <a:srgbClr val="FFFFFF"/>
                </a:highlight>
              </a:rPr>
            </a:br>
            <a:r>
              <a:rPr lang="en" sz="1300">
                <a:solidFill>
                  <a:srgbClr val="252525"/>
                </a:solidFill>
                <a:highlight>
                  <a:srgbClr val="FFFFFF"/>
                </a:highlight>
              </a:rPr>
              <a:t>or try something else which might be even better (explore)?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1377" y="474525"/>
            <a:ext cx="3821231" cy="288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1945500" y="4065725"/>
            <a:ext cx="52530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252525"/>
                </a:solidFill>
                <a:highlight>
                  <a:srgbClr val="FFFFFF"/>
                </a:highlight>
              </a:rPr>
              <a:t>No exploration, all exploitation</a:t>
            </a:r>
            <a:endParaRPr sz="1450">
              <a:solidFill>
                <a:srgbClr val="252525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1900"/>
              </a:spcBef>
              <a:spcAft>
                <a:spcPts val="1900"/>
              </a:spcAft>
              <a:buNone/>
            </a:pPr>
            <a:r>
              <a:rPr lang="en" sz="1450">
                <a:solidFill>
                  <a:srgbClr val="252525"/>
                </a:solidFill>
                <a:highlight>
                  <a:srgbClr val="FFFFFF"/>
                </a:highlight>
              </a:rPr>
              <a:t>Problem: estimates are inaccurate, too greedy</a:t>
            </a:r>
            <a:endParaRPr sz="1450">
              <a:solidFill>
                <a:srgbClr val="252525"/>
              </a:solidFill>
              <a:highlight>
                <a:srgbClr val="FFFFFF"/>
              </a:highlight>
            </a:endParaRPr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742" y="452288"/>
            <a:ext cx="4680499" cy="354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/>
        </p:nvSpPr>
        <p:spPr>
          <a:xfrm>
            <a:off x="1945500" y="4002950"/>
            <a:ext cx="5253000" cy="11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252525"/>
                </a:solidFill>
                <a:highlight>
                  <a:srgbClr val="FFFFFF"/>
                </a:highlight>
              </a:rPr>
              <a:t>No exploitation, all exploration</a:t>
            </a:r>
            <a:endParaRPr sz="1450">
              <a:solidFill>
                <a:srgbClr val="252525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1900"/>
              </a:spcBef>
              <a:spcAft>
                <a:spcPts val="1900"/>
              </a:spcAft>
              <a:buNone/>
            </a:pPr>
            <a:r>
              <a:rPr lang="en" sz="1450">
                <a:solidFill>
                  <a:srgbClr val="252525"/>
                </a:solidFill>
                <a:highlight>
                  <a:srgbClr val="FFFFFF"/>
                </a:highlight>
              </a:rPr>
              <a:t>Problem: average utility is low because exploration is not guided</a:t>
            </a:r>
            <a:endParaRPr sz="1450">
              <a:solidFill>
                <a:srgbClr val="252525"/>
              </a:solidFill>
              <a:highlight>
                <a:srgbClr val="FFFFFF"/>
              </a:highlight>
            </a:endParaRPr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8663" y="463525"/>
            <a:ext cx="4826674" cy="351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/>
        </p:nvSpPr>
        <p:spPr>
          <a:xfrm>
            <a:off x="309125" y="309100"/>
            <a:ext cx="457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Epsilon-greedy</a:t>
            </a:r>
            <a:endParaRPr b="1"/>
          </a:p>
        </p:txBody>
      </p:sp>
      <p:sp>
        <p:nvSpPr>
          <p:cNvPr id="89" name="Google Shape;89;p19"/>
          <p:cNvSpPr txBox="1"/>
          <p:nvPr/>
        </p:nvSpPr>
        <p:spPr>
          <a:xfrm>
            <a:off x="2257200" y="4171400"/>
            <a:ext cx="4629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/>
              <a:t>Idea: Balance</a:t>
            </a:r>
            <a:endParaRPr sz="14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/>
              <a:t>Need to balance exploration and exploitation.</a:t>
            </a:r>
            <a:endParaRPr sz="1450"/>
          </a:p>
        </p:txBody>
      </p:sp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300" y="538063"/>
            <a:ext cx="4681400" cy="354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309125" y="309100"/>
            <a:ext cx="457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Algorithm: epsilon-greedy policy</a:t>
            </a:r>
            <a:endParaRPr b="1"/>
          </a:p>
        </p:txBody>
      </p:sp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7959" y="1439647"/>
            <a:ext cx="4248075" cy="226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309125" y="309100"/>
            <a:ext cx="457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Different </a:t>
            </a:r>
            <a:r>
              <a:rPr b="1" lang="en"/>
              <a:t>epsilon numbers</a:t>
            </a:r>
            <a:endParaRPr b="1"/>
          </a:p>
        </p:txBody>
      </p:sp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188" y="981075"/>
            <a:ext cx="614362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/>
        </p:nvSpPr>
        <p:spPr>
          <a:xfrm>
            <a:off x="309125" y="309100"/>
            <a:ext cx="457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Multi Armed Bandit</a:t>
            </a:r>
            <a:endParaRPr b="1"/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975" y="1162551"/>
            <a:ext cx="7090050" cy="329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/>
        </p:nvSpPr>
        <p:spPr>
          <a:xfrm>
            <a:off x="309125" y="309100"/>
            <a:ext cx="457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Different K-Armed Bandit Machines</a:t>
            </a:r>
            <a:endParaRPr b="1"/>
          </a:p>
        </p:txBody>
      </p:sp>
      <p:pic>
        <p:nvPicPr>
          <p:cNvPr id="114" name="Google Shape;11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6975" y="2942375"/>
            <a:ext cx="3610051" cy="212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7252" y="709300"/>
            <a:ext cx="5849501" cy="22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