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5143500" cx="9144000"/>
  <p:notesSz cx="6858000" cy="9144000"/>
  <p:embeddedFontLst>
    <p:embeddedFont>
      <p:font typeface="Roboto"/>
      <p:regular r:id="rId20"/>
      <p:bold r:id="rId21"/>
      <p:italic r:id="rId22"/>
      <p:boldItalic r:id="rId2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oboto-regular.fntdata"/><Relationship Id="rId11" Type="http://schemas.openxmlformats.org/officeDocument/2006/relationships/slide" Target="slides/slide6.xml"/><Relationship Id="rId22" Type="http://schemas.openxmlformats.org/officeDocument/2006/relationships/font" Target="fonts/Roboto-italic.fntdata"/><Relationship Id="rId10" Type="http://schemas.openxmlformats.org/officeDocument/2006/relationships/slide" Target="slides/slide5.xml"/><Relationship Id="rId21" Type="http://schemas.openxmlformats.org/officeDocument/2006/relationships/font" Target="fonts/Roboto-bold.fntdata"/><Relationship Id="rId13" Type="http://schemas.openxmlformats.org/officeDocument/2006/relationships/slide" Target="slides/slide8.xml"/><Relationship Id="rId12" Type="http://schemas.openxmlformats.org/officeDocument/2006/relationships/slide" Target="slides/slide7.xml"/><Relationship Id="rId23" Type="http://schemas.openxmlformats.org/officeDocument/2006/relationships/font" Target="fonts/Roboto-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25b6eafb99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25b6eafb99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25a6d6157ff_0_1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g25a6d6157ff_0_1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25b6eafb99d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25b6eafb99d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25b6eafb99d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25b6eafb99d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25b6eafb99d_0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25b6eafb99d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25b6eafb99d_0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25b6eafb99d_0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25a6d6157ff_0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25a6d6157ff_0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25a6d6157ff_0_1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25a6d6157ff_0_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25a6d6157ff_0_1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25a6d6157ff_0_1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25a6d6157ff_0_1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25a6d6157ff_0_1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25a6d6157ff_0_1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25a6d6157ff_0_1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25a6d6157ff_0_1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25a6d6157ff_0_1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25a6d6157ff_0_1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25a6d6157ff_0_1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25b6eafb99d_0_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25b6eafb99d_0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1.png"/><Relationship Id="rId4" Type="http://schemas.openxmlformats.org/officeDocument/2006/relationships/image" Target="../media/image5.png"/><Relationship Id="rId5" Type="http://schemas.openxmlformats.org/officeDocument/2006/relationships/image" Target="../media/image3.png"/><Relationship Id="rId6"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3.png"/><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1545450"/>
            <a:ext cx="8520600" cy="20526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latin typeface="Times New Roman"/>
                <a:ea typeface="Times New Roman"/>
                <a:cs typeface="Times New Roman"/>
                <a:sym typeface="Times New Roman"/>
              </a:rPr>
              <a:t>Temporal-Difference Learning</a:t>
            </a:r>
            <a:endParaRPr>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4"/>
          <p:cNvSpPr txBox="1"/>
          <p:nvPr/>
        </p:nvSpPr>
        <p:spPr>
          <a:xfrm>
            <a:off x="156750" y="275825"/>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dk1"/>
                </a:solidFill>
              </a:rPr>
              <a:t>TD Learning</a:t>
            </a:r>
            <a:endParaRPr b="1">
              <a:solidFill>
                <a:schemeClr val="dk1"/>
              </a:solidFill>
            </a:endParaRPr>
          </a:p>
        </p:txBody>
      </p:sp>
      <p:sp>
        <p:nvSpPr>
          <p:cNvPr id="60" name="Google Shape;60;p14"/>
          <p:cNvSpPr txBox="1"/>
          <p:nvPr/>
        </p:nvSpPr>
        <p:spPr>
          <a:xfrm>
            <a:off x="1126500" y="3661963"/>
            <a:ext cx="6891000" cy="1262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Similar to </a:t>
            </a:r>
            <a:r>
              <a:rPr b="1" lang="en"/>
              <a:t>Monte-Carlo </a:t>
            </a:r>
            <a:r>
              <a:rPr lang="en"/>
              <a:t>methods, </a:t>
            </a:r>
            <a:r>
              <a:rPr b="1" lang="en"/>
              <a:t>Temporal-Difference (TD)</a:t>
            </a:r>
            <a:r>
              <a:rPr lang="en"/>
              <a:t> Learning is </a:t>
            </a:r>
            <a:r>
              <a:rPr b="1" lang="en"/>
              <a:t>model-free</a:t>
            </a:r>
            <a:r>
              <a:rPr lang="en"/>
              <a:t> and learns from episodes of experience. However, TD learning can learn from </a:t>
            </a:r>
            <a:r>
              <a:rPr b="1" lang="en"/>
              <a:t>incomplete</a:t>
            </a:r>
            <a:r>
              <a:rPr lang="en"/>
              <a:t> episodes and hence we don’t need to track the episode up to termination. TD learning is so important that Sutton &amp; Barto (2017) in their RL book describes it as “</a:t>
            </a:r>
            <a:r>
              <a:rPr b="1" lang="en"/>
              <a:t>one idea … central and novel to reinforcement learning</a:t>
            </a:r>
            <a:r>
              <a:rPr lang="en"/>
              <a:t>”.</a:t>
            </a:r>
            <a:endParaRPr/>
          </a:p>
        </p:txBody>
      </p:sp>
      <p:pic>
        <p:nvPicPr>
          <p:cNvPr id="61" name="Google Shape;61;p14"/>
          <p:cNvPicPr preferRelativeResize="0"/>
          <p:nvPr/>
        </p:nvPicPr>
        <p:blipFill>
          <a:blip r:embed="rId3">
            <a:alphaModFix/>
          </a:blip>
          <a:stretch>
            <a:fillRect/>
          </a:stretch>
        </p:blipFill>
        <p:spPr>
          <a:xfrm>
            <a:off x="1942588" y="831851"/>
            <a:ext cx="5258825" cy="28301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ctrTitle"/>
          </p:nvPr>
        </p:nvSpPr>
        <p:spPr>
          <a:xfrm>
            <a:off x="311708" y="1545450"/>
            <a:ext cx="8520600" cy="20526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latin typeface="Times New Roman"/>
                <a:ea typeface="Times New Roman"/>
                <a:cs typeface="Times New Roman"/>
                <a:sym typeface="Times New Roman"/>
              </a:rPr>
              <a:t>Q-Learning vs. SARSA</a:t>
            </a:r>
            <a:endParaRPr>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16"/>
          <p:cNvSpPr txBox="1"/>
          <p:nvPr/>
        </p:nvSpPr>
        <p:spPr>
          <a:xfrm>
            <a:off x="156750" y="275825"/>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dk1"/>
                </a:solidFill>
              </a:rPr>
              <a:t>Q-Learning vs. SARSA</a:t>
            </a:r>
            <a:endParaRPr b="1">
              <a:solidFill>
                <a:schemeClr val="dk1"/>
              </a:solidFill>
            </a:endParaRPr>
          </a:p>
        </p:txBody>
      </p:sp>
      <p:pic>
        <p:nvPicPr>
          <p:cNvPr id="72" name="Google Shape;72;p16"/>
          <p:cNvPicPr preferRelativeResize="0"/>
          <p:nvPr/>
        </p:nvPicPr>
        <p:blipFill>
          <a:blip r:embed="rId3">
            <a:alphaModFix/>
          </a:blip>
          <a:stretch>
            <a:fillRect/>
          </a:stretch>
        </p:blipFill>
        <p:spPr>
          <a:xfrm>
            <a:off x="2106225" y="1317594"/>
            <a:ext cx="4931550" cy="543823"/>
          </a:xfrm>
          <a:prstGeom prst="rect">
            <a:avLst/>
          </a:prstGeom>
          <a:noFill/>
          <a:ln>
            <a:noFill/>
          </a:ln>
        </p:spPr>
      </p:pic>
      <p:pic>
        <p:nvPicPr>
          <p:cNvPr id="73" name="Google Shape;73;p16"/>
          <p:cNvPicPr preferRelativeResize="0"/>
          <p:nvPr/>
        </p:nvPicPr>
        <p:blipFill>
          <a:blip r:embed="rId4">
            <a:alphaModFix/>
          </a:blip>
          <a:stretch>
            <a:fillRect/>
          </a:stretch>
        </p:blipFill>
        <p:spPr>
          <a:xfrm>
            <a:off x="2106200" y="3404827"/>
            <a:ext cx="4931550" cy="543823"/>
          </a:xfrm>
          <a:prstGeom prst="rect">
            <a:avLst/>
          </a:prstGeom>
          <a:noFill/>
          <a:ln>
            <a:noFill/>
          </a:ln>
        </p:spPr>
      </p:pic>
      <p:sp>
        <p:nvSpPr>
          <p:cNvPr id="74" name="Google Shape;74;p16"/>
          <p:cNvSpPr txBox="1"/>
          <p:nvPr/>
        </p:nvSpPr>
        <p:spPr>
          <a:xfrm>
            <a:off x="3254189" y="2948024"/>
            <a:ext cx="26355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chemeClr val="dk1"/>
                </a:solidFill>
              </a:rPr>
              <a:t>Q-Learning (Off-Policy)</a:t>
            </a:r>
            <a:endParaRPr b="1">
              <a:solidFill>
                <a:schemeClr val="dk1"/>
              </a:solidFill>
            </a:endParaRPr>
          </a:p>
        </p:txBody>
      </p:sp>
      <p:sp>
        <p:nvSpPr>
          <p:cNvPr id="75" name="Google Shape;75;p16"/>
          <p:cNvSpPr txBox="1"/>
          <p:nvPr/>
        </p:nvSpPr>
        <p:spPr>
          <a:xfrm>
            <a:off x="3254214" y="860800"/>
            <a:ext cx="26355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Clr>
                <a:schemeClr val="dk1"/>
              </a:buClr>
              <a:buSzPts val="1100"/>
              <a:buFont typeface="Arial"/>
              <a:buNone/>
            </a:pPr>
            <a:r>
              <a:rPr b="1" lang="en">
                <a:solidFill>
                  <a:schemeClr val="dk1"/>
                </a:solidFill>
              </a:rPr>
              <a:t>SARSA (On-Policy)</a:t>
            </a:r>
            <a:endParaRPr b="1">
              <a:solidFill>
                <a:schemeClr val="dk1"/>
              </a:solidFill>
            </a:endParaRPr>
          </a:p>
        </p:txBody>
      </p:sp>
      <p:pic>
        <p:nvPicPr>
          <p:cNvPr id="76" name="Google Shape;76;p16"/>
          <p:cNvPicPr preferRelativeResize="0"/>
          <p:nvPr/>
        </p:nvPicPr>
        <p:blipFill>
          <a:blip r:embed="rId5">
            <a:alphaModFix/>
          </a:blip>
          <a:stretch>
            <a:fillRect/>
          </a:stretch>
        </p:blipFill>
        <p:spPr>
          <a:xfrm>
            <a:off x="1362975" y="1861424"/>
            <a:ext cx="6418002" cy="742700"/>
          </a:xfrm>
          <a:prstGeom prst="rect">
            <a:avLst/>
          </a:prstGeom>
          <a:noFill/>
          <a:ln>
            <a:noFill/>
          </a:ln>
        </p:spPr>
      </p:pic>
      <p:pic>
        <p:nvPicPr>
          <p:cNvPr id="77" name="Google Shape;77;p16"/>
          <p:cNvPicPr preferRelativeResize="0"/>
          <p:nvPr/>
        </p:nvPicPr>
        <p:blipFill>
          <a:blip r:embed="rId6">
            <a:alphaModFix/>
          </a:blip>
          <a:stretch>
            <a:fillRect/>
          </a:stretch>
        </p:blipFill>
        <p:spPr>
          <a:xfrm>
            <a:off x="1363000" y="3982500"/>
            <a:ext cx="6418002" cy="930748"/>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7"/>
          <p:cNvSpPr txBox="1"/>
          <p:nvPr/>
        </p:nvSpPr>
        <p:spPr>
          <a:xfrm>
            <a:off x="156750" y="275825"/>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dk1"/>
                </a:solidFill>
              </a:rPr>
              <a:t>Parameters</a:t>
            </a:r>
            <a:endParaRPr b="1">
              <a:solidFill>
                <a:schemeClr val="dk1"/>
              </a:solidFill>
            </a:endParaRPr>
          </a:p>
        </p:txBody>
      </p:sp>
      <p:sp>
        <p:nvSpPr>
          <p:cNvPr id="83" name="Google Shape;83;p17"/>
          <p:cNvSpPr txBox="1"/>
          <p:nvPr/>
        </p:nvSpPr>
        <p:spPr>
          <a:xfrm>
            <a:off x="1513050" y="1044675"/>
            <a:ext cx="6117900" cy="857700"/>
          </a:xfrm>
          <a:prstGeom prst="rect">
            <a:avLst/>
          </a:prstGeom>
          <a:noFill/>
          <a:ln>
            <a:noFill/>
          </a:ln>
        </p:spPr>
        <p:txBody>
          <a:bodyPr anchorCtr="0" anchor="t" bIns="91425" lIns="91425" spcFirstLastPara="1" rIns="91425" wrap="square" tIns="91425">
            <a:spAutoFit/>
          </a:bodyPr>
          <a:lstStyle/>
          <a:p>
            <a:pPr indent="0" lvl="0" marL="0" rtl="0" algn="ctr">
              <a:lnSpc>
                <a:spcPct val="218181"/>
              </a:lnSpc>
              <a:spcBef>
                <a:spcPts val="1300"/>
              </a:spcBef>
              <a:spcAft>
                <a:spcPts val="0"/>
              </a:spcAft>
              <a:buNone/>
            </a:pPr>
            <a:r>
              <a:rPr lang="en" sz="1500">
                <a:solidFill>
                  <a:srgbClr val="242424"/>
                </a:solidFill>
                <a:highlight>
                  <a:srgbClr val="FFFFFF"/>
                </a:highlight>
                <a:latin typeface="Georgia"/>
                <a:ea typeface="Georgia"/>
                <a:cs typeface="Georgia"/>
                <a:sym typeface="Georgia"/>
              </a:rPr>
              <a:t>Both algorithms need the following parameters:</a:t>
            </a:r>
            <a:endParaRPr sz="1500">
              <a:solidFill>
                <a:srgbClr val="242424"/>
              </a:solidFill>
              <a:highlight>
                <a:srgbClr val="FFFFFF"/>
              </a:highlight>
              <a:latin typeface="Georgia"/>
              <a:ea typeface="Georgia"/>
              <a:cs typeface="Georgia"/>
              <a:sym typeface="Georgia"/>
            </a:endParaRPr>
          </a:p>
          <a:p>
            <a:pPr indent="0" lvl="0" marL="0" rtl="0" algn="ctr">
              <a:lnSpc>
                <a:spcPct val="115000"/>
              </a:lnSpc>
              <a:spcBef>
                <a:spcPts val="0"/>
              </a:spcBef>
              <a:spcAft>
                <a:spcPts val="0"/>
              </a:spcAft>
              <a:buNone/>
            </a:pPr>
            <a:r>
              <a:t/>
            </a:r>
            <a:endParaRPr sz="1100">
              <a:solidFill>
                <a:schemeClr val="dk1"/>
              </a:solidFill>
            </a:endParaRPr>
          </a:p>
        </p:txBody>
      </p:sp>
      <p:sp>
        <p:nvSpPr>
          <p:cNvPr id="84" name="Google Shape;84;p17"/>
          <p:cNvSpPr txBox="1"/>
          <p:nvPr/>
        </p:nvSpPr>
        <p:spPr>
          <a:xfrm>
            <a:off x="312000" y="2036100"/>
            <a:ext cx="8520000" cy="1810800"/>
          </a:xfrm>
          <a:prstGeom prst="rect">
            <a:avLst/>
          </a:prstGeom>
          <a:noFill/>
          <a:ln>
            <a:noFill/>
          </a:ln>
        </p:spPr>
        <p:txBody>
          <a:bodyPr anchorCtr="0" anchor="t" bIns="91425" lIns="91425" spcFirstLastPara="1" rIns="91425" wrap="square" tIns="91425">
            <a:spAutoFit/>
          </a:bodyPr>
          <a:lstStyle/>
          <a:p>
            <a:pPr indent="-317500" lvl="0" marL="749300" rtl="0" algn="l">
              <a:lnSpc>
                <a:spcPct val="218181"/>
              </a:lnSpc>
              <a:spcBef>
                <a:spcPts val="2200"/>
              </a:spcBef>
              <a:spcAft>
                <a:spcPts val="0"/>
              </a:spcAft>
              <a:buClr>
                <a:srgbClr val="242424"/>
              </a:buClr>
              <a:buSzPts val="1400"/>
              <a:buFont typeface="Georgia"/>
              <a:buChar char="●"/>
            </a:pPr>
            <a:r>
              <a:rPr lang="en">
                <a:solidFill>
                  <a:srgbClr val="242424"/>
                </a:solidFill>
                <a:highlight>
                  <a:srgbClr val="FFFFFF"/>
                </a:highlight>
                <a:latin typeface="Georgia"/>
                <a:ea typeface="Georgia"/>
                <a:cs typeface="Georgia"/>
                <a:sym typeface="Georgia"/>
              </a:rPr>
              <a:t>The epsilon (ε): the chance that an agent chooses an exploration step</a:t>
            </a:r>
            <a:endParaRPr>
              <a:solidFill>
                <a:srgbClr val="242424"/>
              </a:solidFill>
              <a:highlight>
                <a:srgbClr val="FFFFFF"/>
              </a:highlight>
              <a:latin typeface="Georgia"/>
              <a:ea typeface="Georgia"/>
              <a:cs typeface="Georgia"/>
              <a:sym typeface="Georgia"/>
            </a:endParaRPr>
          </a:p>
          <a:p>
            <a:pPr indent="-317500" lvl="0" marL="749300" rtl="0" algn="l">
              <a:lnSpc>
                <a:spcPct val="218181"/>
              </a:lnSpc>
              <a:spcBef>
                <a:spcPts val="0"/>
              </a:spcBef>
              <a:spcAft>
                <a:spcPts val="0"/>
              </a:spcAft>
              <a:buClr>
                <a:srgbClr val="242424"/>
              </a:buClr>
              <a:buSzPts val="1400"/>
              <a:buFont typeface="Georgia"/>
              <a:buChar char="●"/>
            </a:pPr>
            <a:r>
              <a:rPr lang="en">
                <a:solidFill>
                  <a:srgbClr val="242424"/>
                </a:solidFill>
                <a:highlight>
                  <a:srgbClr val="FFFFFF"/>
                </a:highlight>
                <a:latin typeface="Georgia"/>
                <a:ea typeface="Georgia"/>
                <a:cs typeface="Georgia"/>
                <a:sym typeface="Georgia"/>
              </a:rPr>
              <a:t>The learning rate (α): the rate at which the agent learns from new observations</a:t>
            </a:r>
            <a:endParaRPr>
              <a:solidFill>
                <a:srgbClr val="242424"/>
              </a:solidFill>
              <a:highlight>
                <a:srgbClr val="FFFFFF"/>
              </a:highlight>
              <a:latin typeface="Georgia"/>
              <a:ea typeface="Georgia"/>
              <a:cs typeface="Georgia"/>
              <a:sym typeface="Georgia"/>
            </a:endParaRPr>
          </a:p>
          <a:p>
            <a:pPr indent="-317500" lvl="0" marL="749300" rtl="0" algn="l">
              <a:lnSpc>
                <a:spcPct val="218181"/>
              </a:lnSpc>
              <a:spcBef>
                <a:spcPts val="0"/>
              </a:spcBef>
              <a:spcAft>
                <a:spcPts val="0"/>
              </a:spcAft>
              <a:buClr>
                <a:srgbClr val="242424"/>
              </a:buClr>
              <a:buSzPts val="1400"/>
              <a:buFont typeface="Georgia"/>
              <a:buChar char="●"/>
            </a:pPr>
            <a:r>
              <a:rPr lang="en">
                <a:solidFill>
                  <a:srgbClr val="242424"/>
                </a:solidFill>
                <a:highlight>
                  <a:srgbClr val="FFFFFF"/>
                </a:highlight>
                <a:latin typeface="Georgia"/>
                <a:ea typeface="Georgia"/>
                <a:cs typeface="Georgia"/>
                <a:sym typeface="Georgia"/>
              </a:rPr>
              <a:t>The discount value (γ): the amount future rewards get discounted because direct rewards are more important than future rewards</a:t>
            </a:r>
            <a:endParaRPr sz="900">
              <a:solidFill>
                <a:schemeClr val="dk1"/>
              </a:solidFill>
              <a:highlight>
                <a:srgbClr val="FFFFFF"/>
              </a:highlight>
              <a:latin typeface="Roboto"/>
              <a:ea typeface="Roboto"/>
              <a:cs typeface="Roboto"/>
              <a:sym typeface="Robot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8"/>
          <p:cNvSpPr txBox="1"/>
          <p:nvPr/>
        </p:nvSpPr>
        <p:spPr>
          <a:xfrm>
            <a:off x="156750" y="275825"/>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dk1"/>
                </a:solidFill>
              </a:rPr>
              <a:t>Introducing the Q-Table</a:t>
            </a:r>
            <a:endParaRPr b="1">
              <a:solidFill>
                <a:schemeClr val="dk1"/>
              </a:solidFill>
            </a:endParaRPr>
          </a:p>
        </p:txBody>
      </p:sp>
      <p:sp>
        <p:nvSpPr>
          <p:cNvPr id="90" name="Google Shape;90;p18"/>
          <p:cNvSpPr txBox="1"/>
          <p:nvPr/>
        </p:nvSpPr>
        <p:spPr>
          <a:xfrm>
            <a:off x="1126500" y="4121088"/>
            <a:ext cx="68910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Q-Table is just a fancy name for a simple lookup table where we calculate the maximum expected future rewards for action at each state. Basically, this table will guide us to the best action at each state.</a:t>
            </a:r>
            <a:endParaRPr/>
          </a:p>
        </p:txBody>
      </p:sp>
      <p:pic>
        <p:nvPicPr>
          <p:cNvPr id="91" name="Google Shape;91;p18"/>
          <p:cNvPicPr preferRelativeResize="0"/>
          <p:nvPr/>
        </p:nvPicPr>
        <p:blipFill>
          <a:blip r:embed="rId3">
            <a:alphaModFix/>
          </a:blip>
          <a:stretch>
            <a:fillRect/>
          </a:stretch>
        </p:blipFill>
        <p:spPr>
          <a:xfrm>
            <a:off x="2928938" y="1012675"/>
            <a:ext cx="3286125" cy="27717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9"/>
          <p:cNvSpPr txBox="1"/>
          <p:nvPr/>
        </p:nvSpPr>
        <p:spPr>
          <a:xfrm>
            <a:off x="156750" y="275825"/>
            <a:ext cx="3524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dk1"/>
                </a:solidFill>
              </a:rPr>
              <a:t>Modeling environment in Q-Table</a:t>
            </a:r>
            <a:endParaRPr b="1">
              <a:solidFill>
                <a:schemeClr val="dk1"/>
              </a:solidFill>
            </a:endParaRPr>
          </a:p>
        </p:txBody>
      </p:sp>
      <p:sp>
        <p:nvSpPr>
          <p:cNvPr id="97" name="Google Shape;97;p19"/>
          <p:cNvSpPr txBox="1"/>
          <p:nvPr/>
        </p:nvSpPr>
        <p:spPr>
          <a:xfrm>
            <a:off x="1126500" y="4121088"/>
            <a:ext cx="68910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Each Q-table score will be the maximum expected future reward that the robot will get if it takes that action at that state. This is an iterative process, as we need to improve the Q-Table at each iteration.</a:t>
            </a:r>
            <a:endParaRPr/>
          </a:p>
        </p:txBody>
      </p:sp>
      <p:pic>
        <p:nvPicPr>
          <p:cNvPr id="98" name="Google Shape;98;p19"/>
          <p:cNvPicPr preferRelativeResize="0"/>
          <p:nvPr/>
        </p:nvPicPr>
        <p:blipFill>
          <a:blip r:embed="rId3">
            <a:alphaModFix/>
          </a:blip>
          <a:stretch>
            <a:fillRect/>
          </a:stretch>
        </p:blipFill>
        <p:spPr>
          <a:xfrm>
            <a:off x="3071813" y="988863"/>
            <a:ext cx="3000375" cy="28194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20"/>
          <p:cNvSpPr txBox="1"/>
          <p:nvPr>
            <p:ph type="ctrTitle"/>
          </p:nvPr>
        </p:nvSpPr>
        <p:spPr>
          <a:xfrm>
            <a:off x="311700" y="0"/>
            <a:ext cx="8520600" cy="493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SzPts val="990"/>
              <a:buNone/>
            </a:pPr>
            <a:r>
              <a:rPr lang="en" sz="3280">
                <a:latin typeface="Times New Roman"/>
                <a:ea typeface="Times New Roman"/>
                <a:cs typeface="Times New Roman"/>
                <a:sym typeface="Times New Roman"/>
              </a:rPr>
              <a:t>Questions:</a:t>
            </a:r>
            <a:endParaRPr sz="3280">
              <a:latin typeface="Times New Roman"/>
              <a:ea typeface="Times New Roman"/>
              <a:cs typeface="Times New Roman"/>
              <a:sym typeface="Times New Roman"/>
            </a:endParaRPr>
          </a:p>
          <a:p>
            <a:pPr indent="0" lvl="0" marL="0" rtl="0" algn="l">
              <a:spcBef>
                <a:spcPts val="0"/>
              </a:spcBef>
              <a:spcAft>
                <a:spcPts val="0"/>
              </a:spcAft>
              <a:buSzPts val="990"/>
              <a:buNone/>
            </a:pPr>
            <a:r>
              <a:t/>
            </a:r>
            <a:endParaRPr sz="3280">
              <a:latin typeface="Times New Roman"/>
              <a:ea typeface="Times New Roman"/>
              <a:cs typeface="Times New Roman"/>
              <a:sym typeface="Times New Roman"/>
            </a:endParaRPr>
          </a:p>
          <a:p>
            <a:pPr indent="0" lvl="0" marL="0" rtl="0" algn="l">
              <a:spcBef>
                <a:spcPts val="0"/>
              </a:spcBef>
              <a:spcAft>
                <a:spcPts val="0"/>
              </a:spcAft>
              <a:buSzPts val="990"/>
              <a:buNone/>
            </a:pPr>
            <a:r>
              <a:rPr lang="en" sz="3280">
                <a:latin typeface="Times New Roman"/>
                <a:ea typeface="Times New Roman"/>
                <a:cs typeface="Times New Roman"/>
                <a:sym typeface="Times New Roman"/>
              </a:rPr>
              <a:t>How do we calculate the values of the Q-table?</a:t>
            </a:r>
            <a:endParaRPr sz="3280">
              <a:latin typeface="Times New Roman"/>
              <a:ea typeface="Times New Roman"/>
              <a:cs typeface="Times New Roman"/>
              <a:sym typeface="Times New Roman"/>
            </a:endParaRPr>
          </a:p>
          <a:p>
            <a:pPr indent="0" lvl="0" marL="0" rtl="0" algn="l">
              <a:spcBef>
                <a:spcPts val="0"/>
              </a:spcBef>
              <a:spcAft>
                <a:spcPts val="0"/>
              </a:spcAft>
              <a:buSzPts val="990"/>
              <a:buNone/>
            </a:pPr>
            <a:r>
              <a:t/>
            </a:r>
            <a:endParaRPr sz="3280">
              <a:latin typeface="Times New Roman"/>
              <a:ea typeface="Times New Roman"/>
              <a:cs typeface="Times New Roman"/>
              <a:sym typeface="Times New Roman"/>
            </a:endParaRPr>
          </a:p>
          <a:p>
            <a:pPr indent="0" lvl="0" marL="0" rtl="0" algn="l">
              <a:spcBef>
                <a:spcPts val="0"/>
              </a:spcBef>
              <a:spcAft>
                <a:spcPts val="0"/>
              </a:spcAft>
              <a:buSzPts val="990"/>
              <a:buNone/>
            </a:pPr>
            <a:r>
              <a:rPr lang="en" sz="3280">
                <a:latin typeface="Times New Roman"/>
                <a:ea typeface="Times New Roman"/>
                <a:cs typeface="Times New Roman"/>
                <a:sym typeface="Times New Roman"/>
              </a:rPr>
              <a:t>Are the values available or predefined?</a:t>
            </a:r>
            <a:endParaRPr sz="3280">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21"/>
          <p:cNvSpPr txBox="1"/>
          <p:nvPr/>
        </p:nvSpPr>
        <p:spPr>
          <a:xfrm>
            <a:off x="148400" y="125375"/>
            <a:ext cx="3524700" cy="169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dk1"/>
                </a:solidFill>
              </a:rPr>
              <a:t>To learn each value of the Q-table,</a:t>
            </a:r>
            <a:endParaRPr b="1">
              <a:solidFill>
                <a:schemeClr val="dk1"/>
              </a:solidFill>
            </a:endParaRPr>
          </a:p>
          <a:p>
            <a:pPr indent="0" lvl="0" marL="0" rtl="0" algn="l">
              <a:spcBef>
                <a:spcPts val="0"/>
              </a:spcBef>
              <a:spcAft>
                <a:spcPts val="0"/>
              </a:spcAft>
              <a:buNone/>
            </a:pPr>
            <a:r>
              <a:rPr b="1" lang="en">
                <a:solidFill>
                  <a:schemeClr val="dk1"/>
                </a:solidFill>
              </a:rPr>
              <a:t>we use the Q-Learning algorithm</a:t>
            </a:r>
            <a:br>
              <a:rPr b="1" lang="en">
                <a:solidFill>
                  <a:schemeClr val="dk1"/>
                </a:solidFill>
              </a:rPr>
            </a:br>
            <a:endParaRPr b="1">
              <a:solidFill>
                <a:schemeClr val="dk1"/>
              </a:solidFill>
            </a:endParaRPr>
          </a:p>
          <a:p>
            <a:pPr indent="0" lvl="0" marL="0" rtl="0" algn="l">
              <a:spcBef>
                <a:spcPts val="0"/>
              </a:spcBef>
              <a:spcAft>
                <a:spcPts val="0"/>
              </a:spcAft>
              <a:buNone/>
            </a:pPr>
            <a:r>
              <a:rPr b="1" lang="en">
                <a:solidFill>
                  <a:schemeClr val="dk1"/>
                </a:solidFill>
              </a:rPr>
              <a:t>Mathematics: the Q-Learning algorithm</a:t>
            </a:r>
            <a:endParaRPr b="1">
              <a:solidFill>
                <a:schemeClr val="dk1"/>
              </a:solidFill>
            </a:endParaRPr>
          </a:p>
          <a:p>
            <a:pPr indent="0" lvl="0" marL="0" rtl="0" algn="l">
              <a:spcBef>
                <a:spcPts val="0"/>
              </a:spcBef>
              <a:spcAft>
                <a:spcPts val="0"/>
              </a:spcAft>
              <a:buNone/>
            </a:pPr>
            <a:r>
              <a:rPr b="1" lang="en">
                <a:solidFill>
                  <a:schemeClr val="dk1"/>
                </a:solidFill>
              </a:rPr>
              <a:t>Q-function</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p:txBody>
      </p:sp>
      <p:sp>
        <p:nvSpPr>
          <p:cNvPr id="109" name="Google Shape;109;p21"/>
          <p:cNvSpPr txBox="1"/>
          <p:nvPr/>
        </p:nvSpPr>
        <p:spPr>
          <a:xfrm>
            <a:off x="820500" y="3081750"/>
            <a:ext cx="7503000" cy="1908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The Q-function uses the Bellman equation and takes two inputs: state (s) and action (a).</a:t>
            </a:r>
            <a:endParaRPr/>
          </a:p>
          <a:p>
            <a:pPr indent="0" lvl="0" marL="0" rtl="0" algn="l">
              <a:spcBef>
                <a:spcPts val="0"/>
              </a:spcBef>
              <a:spcAft>
                <a:spcPts val="0"/>
              </a:spcAft>
              <a:buNone/>
            </a:pPr>
            <a:r>
              <a:rPr lang="en"/>
              <a:t>Using the above function, we get the values of Q for the cells in the table.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Firstly, all the values in the Q-table are zeros.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There is an iterative process of updating the values. As we start to explore the environment, the Q-function gives us better and better approximations by continuously updating the Q-values in the table.</a:t>
            </a:r>
            <a:endParaRPr/>
          </a:p>
        </p:txBody>
      </p:sp>
      <p:pic>
        <p:nvPicPr>
          <p:cNvPr id="110" name="Google Shape;110;p21"/>
          <p:cNvPicPr preferRelativeResize="0"/>
          <p:nvPr/>
        </p:nvPicPr>
        <p:blipFill rotWithShape="1">
          <a:blip r:embed="rId3">
            <a:alphaModFix/>
          </a:blip>
          <a:srcRect b="21893" l="0" r="0" t="0"/>
          <a:stretch/>
        </p:blipFill>
        <p:spPr>
          <a:xfrm>
            <a:off x="1993125" y="1183075"/>
            <a:ext cx="5157750" cy="16932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22"/>
          <p:cNvSpPr txBox="1"/>
          <p:nvPr/>
        </p:nvSpPr>
        <p:spPr>
          <a:xfrm>
            <a:off x="148400" y="125375"/>
            <a:ext cx="4820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dk1"/>
                </a:solidFill>
              </a:rPr>
              <a:t>Introducing the Q-learning algorithm process</a:t>
            </a:r>
            <a:endParaRPr b="1">
              <a:solidFill>
                <a:schemeClr val="dk1"/>
              </a:solidFill>
            </a:endParaRPr>
          </a:p>
        </p:txBody>
      </p:sp>
      <p:sp>
        <p:nvSpPr>
          <p:cNvPr id="116" name="Google Shape;116;p22"/>
          <p:cNvSpPr txBox="1"/>
          <p:nvPr/>
        </p:nvSpPr>
        <p:spPr>
          <a:xfrm>
            <a:off x="820500" y="3081750"/>
            <a:ext cx="7503000" cy="1908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The Q-function uses the Bellman equation and takes two inputs: state (s) and action (a).</a:t>
            </a:r>
            <a:endParaRPr/>
          </a:p>
          <a:p>
            <a:pPr indent="0" lvl="0" marL="0" rtl="0" algn="l">
              <a:spcBef>
                <a:spcPts val="0"/>
              </a:spcBef>
              <a:spcAft>
                <a:spcPts val="0"/>
              </a:spcAft>
              <a:buNone/>
            </a:pPr>
            <a:r>
              <a:rPr lang="en"/>
              <a:t>Using the above function, we get the values of Q for the cells in the table.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Firstly, all the values in the Q-table are zeros.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There is an iterative process of updating the values. As we start to explore the environment, the Q-function gives us better and better approximations by continuously updating the Q-values in the table.</a:t>
            </a:r>
            <a:endParaRPr/>
          </a:p>
        </p:txBody>
      </p:sp>
      <p:pic>
        <p:nvPicPr>
          <p:cNvPr id="117" name="Google Shape;117;p22"/>
          <p:cNvPicPr preferRelativeResize="0"/>
          <p:nvPr/>
        </p:nvPicPr>
        <p:blipFill>
          <a:blip r:embed="rId3">
            <a:alphaModFix/>
          </a:blip>
          <a:stretch>
            <a:fillRect/>
          </a:stretch>
        </p:blipFill>
        <p:spPr>
          <a:xfrm>
            <a:off x="2215457" y="466912"/>
            <a:ext cx="4713100" cy="26511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3"/>
          <p:cNvSpPr txBox="1"/>
          <p:nvPr/>
        </p:nvSpPr>
        <p:spPr>
          <a:xfrm>
            <a:off x="148400" y="125375"/>
            <a:ext cx="4820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dk1"/>
                </a:solidFill>
              </a:rPr>
              <a:t>Step 1: initialize the Q-Table</a:t>
            </a:r>
            <a:endParaRPr b="1">
              <a:solidFill>
                <a:schemeClr val="dk1"/>
              </a:solidFill>
            </a:endParaRPr>
          </a:p>
        </p:txBody>
      </p:sp>
      <p:sp>
        <p:nvSpPr>
          <p:cNvPr id="123" name="Google Shape;123;p23"/>
          <p:cNvSpPr txBox="1"/>
          <p:nvPr/>
        </p:nvSpPr>
        <p:spPr>
          <a:xfrm>
            <a:off x="634050" y="3691375"/>
            <a:ext cx="7875900" cy="1477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We will first build a Q-table. There are n columns, where n= number of actions. There are m rows, where m= number of states. We will initialise the values at 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In our robot example, we have four actions (a=4) and five states (s=5). So we will build a table with four columns and five rows.</a:t>
            </a:r>
            <a:endParaRPr/>
          </a:p>
          <a:p>
            <a:pPr indent="0" lvl="0" marL="0" rtl="0" algn="l">
              <a:spcBef>
                <a:spcPts val="0"/>
              </a:spcBef>
              <a:spcAft>
                <a:spcPts val="0"/>
              </a:spcAft>
              <a:buNone/>
            </a:pPr>
            <a:r>
              <a:t/>
            </a:r>
            <a:endParaRPr/>
          </a:p>
        </p:txBody>
      </p:sp>
      <p:pic>
        <p:nvPicPr>
          <p:cNvPr id="124" name="Google Shape;124;p23"/>
          <p:cNvPicPr preferRelativeResize="0"/>
          <p:nvPr/>
        </p:nvPicPr>
        <p:blipFill>
          <a:blip r:embed="rId3">
            <a:alphaModFix/>
          </a:blip>
          <a:stretch>
            <a:fillRect/>
          </a:stretch>
        </p:blipFill>
        <p:spPr>
          <a:xfrm>
            <a:off x="1106850" y="719988"/>
            <a:ext cx="2903175" cy="2776950"/>
          </a:xfrm>
          <a:prstGeom prst="rect">
            <a:avLst/>
          </a:prstGeom>
          <a:noFill/>
          <a:ln>
            <a:noFill/>
          </a:ln>
        </p:spPr>
      </p:pic>
      <p:pic>
        <p:nvPicPr>
          <p:cNvPr id="125" name="Google Shape;125;p23"/>
          <p:cNvPicPr preferRelativeResize="0"/>
          <p:nvPr/>
        </p:nvPicPr>
        <p:blipFill>
          <a:blip r:embed="rId4">
            <a:alphaModFix/>
          </a:blip>
          <a:stretch>
            <a:fillRect/>
          </a:stretch>
        </p:blipFill>
        <p:spPr>
          <a:xfrm>
            <a:off x="5212500" y="853975"/>
            <a:ext cx="2885325" cy="2508978"/>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4"/>
          <p:cNvSpPr txBox="1"/>
          <p:nvPr/>
        </p:nvSpPr>
        <p:spPr>
          <a:xfrm>
            <a:off x="148400" y="125375"/>
            <a:ext cx="4820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dk1"/>
                </a:solidFill>
              </a:rPr>
              <a:t>Steps 2 and 3: choose and perform an action</a:t>
            </a:r>
            <a:endParaRPr b="1">
              <a:solidFill>
                <a:schemeClr val="dk1"/>
              </a:solidFill>
            </a:endParaRPr>
          </a:p>
        </p:txBody>
      </p:sp>
      <p:sp>
        <p:nvSpPr>
          <p:cNvPr id="131" name="Google Shape;131;p24"/>
          <p:cNvSpPr txBox="1"/>
          <p:nvPr/>
        </p:nvSpPr>
        <p:spPr>
          <a:xfrm>
            <a:off x="634038" y="2771375"/>
            <a:ext cx="7875900" cy="2339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We will choose an action (a) in the state (s) based on the Q-Table. But, as mentioned earlier, when the episode initially starts, every Q-value is 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 now the concept of exploration and exploitation trade-off comes into play.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We’ll use something called the </a:t>
            </a:r>
            <a:r>
              <a:rPr b="1" lang="en"/>
              <a:t>epsilon greedy</a:t>
            </a:r>
            <a:r>
              <a:rPr lang="en"/>
              <a:t> strategy.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In the beginning, the epsilon rates will be higher. The robot will explore the environment and randomly choose actions. The logic behind this is that the robot does not know anything about the environment.</a:t>
            </a:r>
            <a:endParaRPr/>
          </a:p>
        </p:txBody>
      </p:sp>
      <p:pic>
        <p:nvPicPr>
          <p:cNvPr id="132" name="Google Shape;132;p24"/>
          <p:cNvPicPr preferRelativeResize="0"/>
          <p:nvPr/>
        </p:nvPicPr>
        <p:blipFill>
          <a:blip r:embed="rId3">
            <a:alphaModFix/>
          </a:blip>
          <a:stretch>
            <a:fillRect/>
          </a:stretch>
        </p:blipFill>
        <p:spPr>
          <a:xfrm>
            <a:off x="2369937" y="644525"/>
            <a:ext cx="4404124" cy="21268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5"/>
          <p:cNvSpPr txBox="1"/>
          <p:nvPr/>
        </p:nvSpPr>
        <p:spPr>
          <a:xfrm>
            <a:off x="148400" y="125375"/>
            <a:ext cx="4820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dk1"/>
                </a:solidFill>
              </a:rPr>
              <a:t>Steps 4 and 5: evaluate</a:t>
            </a:r>
            <a:endParaRPr b="1">
              <a:solidFill>
                <a:schemeClr val="dk1"/>
              </a:solidFill>
            </a:endParaRPr>
          </a:p>
        </p:txBody>
      </p:sp>
      <p:sp>
        <p:nvSpPr>
          <p:cNvPr id="138" name="Google Shape;138;p25"/>
          <p:cNvSpPr txBox="1"/>
          <p:nvPr/>
        </p:nvSpPr>
        <p:spPr>
          <a:xfrm>
            <a:off x="634050" y="3464175"/>
            <a:ext cx="7875900" cy="1262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In the case of the robot game, to reiterate the scoring/reward structure is: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power = +1</a:t>
            </a:r>
            <a:endParaRPr/>
          </a:p>
          <a:p>
            <a:pPr indent="0" lvl="0" marL="0" rtl="0" algn="l">
              <a:spcBef>
                <a:spcPts val="0"/>
              </a:spcBef>
              <a:spcAft>
                <a:spcPts val="0"/>
              </a:spcAft>
              <a:buNone/>
            </a:pPr>
            <a:r>
              <a:rPr lang="en"/>
              <a:t>mine = -100</a:t>
            </a:r>
            <a:endParaRPr/>
          </a:p>
          <a:p>
            <a:pPr indent="0" lvl="0" marL="0" rtl="0" algn="l">
              <a:spcBef>
                <a:spcPts val="0"/>
              </a:spcBef>
              <a:spcAft>
                <a:spcPts val="0"/>
              </a:spcAft>
              <a:buNone/>
            </a:pPr>
            <a:r>
              <a:rPr lang="en"/>
              <a:t>end = +100</a:t>
            </a:r>
            <a:endParaRPr/>
          </a:p>
        </p:txBody>
      </p:sp>
      <p:pic>
        <p:nvPicPr>
          <p:cNvPr id="139" name="Google Shape;139;p25"/>
          <p:cNvPicPr preferRelativeResize="0"/>
          <p:nvPr/>
        </p:nvPicPr>
        <p:blipFill>
          <a:blip r:embed="rId3">
            <a:alphaModFix/>
          </a:blip>
          <a:stretch>
            <a:fillRect/>
          </a:stretch>
        </p:blipFill>
        <p:spPr>
          <a:xfrm>
            <a:off x="2110628" y="831073"/>
            <a:ext cx="4922749" cy="24613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6"/>
          <p:cNvSpPr txBox="1"/>
          <p:nvPr/>
        </p:nvSpPr>
        <p:spPr>
          <a:xfrm>
            <a:off x="148400" y="125375"/>
            <a:ext cx="4820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dk1"/>
                </a:solidFill>
              </a:rPr>
              <a:t>Comparison</a:t>
            </a:r>
            <a:endParaRPr b="1">
              <a:solidFill>
                <a:schemeClr val="dk1"/>
              </a:solidFill>
            </a:endParaRPr>
          </a:p>
        </p:txBody>
      </p:sp>
      <p:sp>
        <p:nvSpPr>
          <p:cNvPr id="145" name="Google Shape;145;p26"/>
          <p:cNvSpPr txBox="1"/>
          <p:nvPr/>
        </p:nvSpPr>
        <p:spPr>
          <a:xfrm>
            <a:off x="634050" y="978525"/>
            <a:ext cx="7875900" cy="341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QL and SARSA are both excellent initial approaches for reinforcement learning problems.</a:t>
            </a:r>
            <a:endParaRPr/>
          </a:p>
          <a:p>
            <a:pPr indent="0" lvl="0" marL="0" rtl="0" algn="l">
              <a:spcBef>
                <a:spcPts val="0"/>
              </a:spcBef>
              <a:spcAft>
                <a:spcPts val="0"/>
              </a:spcAft>
              <a:buClr>
                <a:schemeClr val="dk1"/>
              </a:buClr>
              <a:buSzPts val="1100"/>
              <a:buFont typeface="Arial"/>
              <a:buNone/>
            </a:pPr>
            <a:r>
              <a:rPr lang="en"/>
              <a:t>A few key notes to select when to use QL or SARSA:</a:t>
            </a:r>
            <a:endParaRPr/>
          </a:p>
          <a:p>
            <a:pPr indent="0" lvl="0" marL="0" rtl="0" algn="l">
              <a:spcBef>
                <a:spcPts val="0"/>
              </a:spcBef>
              <a:spcAft>
                <a:spcPts val="0"/>
              </a:spcAft>
              <a:buClr>
                <a:schemeClr val="dk1"/>
              </a:buClr>
              <a:buSzPts val="1100"/>
              <a:buFont typeface="Arial"/>
              <a:buNone/>
            </a:pPr>
            <a:r>
              <a:t/>
            </a:r>
            <a:endParaRPr/>
          </a:p>
          <a:p>
            <a:pPr indent="-317500" lvl="0" marL="457200" rtl="0" algn="l">
              <a:spcBef>
                <a:spcPts val="0"/>
              </a:spcBef>
              <a:spcAft>
                <a:spcPts val="0"/>
              </a:spcAft>
              <a:buSzPts val="1400"/>
              <a:buChar char="●"/>
            </a:pPr>
            <a:r>
              <a:rPr lang="en"/>
              <a:t>Both approach work in a finite environment (or a discretized continuous environment)</a:t>
            </a:r>
            <a:br>
              <a:rPr lang="en"/>
            </a:br>
            <a:endParaRPr/>
          </a:p>
          <a:p>
            <a:pPr indent="-317500" lvl="0" marL="457200" rtl="0" algn="l">
              <a:spcBef>
                <a:spcPts val="0"/>
              </a:spcBef>
              <a:spcAft>
                <a:spcPts val="0"/>
              </a:spcAft>
              <a:buSzPts val="1400"/>
              <a:buChar char="●"/>
            </a:pPr>
            <a:r>
              <a:rPr lang="en"/>
              <a:t>QL directly learns the optimal policy while SARSA learns a “near” optimal policy. QL is a more aggressive agent, while SARSA is more conservative. An example is walking near the cliff. QL will take the shortest path because it is optimal (with the risk of falling), while SARSA will take the longer, safer route (to avoid unexpected falling).</a:t>
            </a:r>
            <a:endParaRPr/>
          </a:p>
          <a:p>
            <a:pPr indent="0" lvl="0" marL="457200" rtl="0" algn="l">
              <a:spcBef>
                <a:spcPts val="0"/>
              </a:spcBef>
              <a:spcAft>
                <a:spcPts val="0"/>
              </a:spcAft>
              <a:buNone/>
            </a:pPr>
            <a:r>
              <a:t/>
            </a:r>
            <a:endParaRPr/>
          </a:p>
          <a:p>
            <a:pPr indent="-317500" lvl="0" marL="457200" rtl="0" algn="l">
              <a:spcBef>
                <a:spcPts val="0"/>
              </a:spcBef>
              <a:spcAft>
                <a:spcPts val="0"/>
              </a:spcAft>
              <a:buSzPts val="1400"/>
              <a:buChar char="●"/>
            </a:pPr>
            <a:r>
              <a:rPr lang="en"/>
              <a:t>In practice, if you want to fast in a fast-iterating environment, QL should be your choice. However, if mistakes are costly (unexpected minimal failure — robots), then SARSA is the better option.</a:t>
            </a:r>
            <a:endParaRPr/>
          </a:p>
          <a:p>
            <a:pPr indent="0" lvl="0" marL="457200" rtl="0" algn="l">
              <a:spcBef>
                <a:spcPts val="0"/>
              </a:spcBef>
              <a:spcAft>
                <a:spcPts val="0"/>
              </a:spcAft>
              <a:buNone/>
            </a:pPr>
            <a:r>
              <a:t/>
            </a:r>
            <a:endParaRPr/>
          </a:p>
          <a:p>
            <a:pPr indent="-317500" lvl="0" marL="457200" rtl="0" algn="l">
              <a:spcBef>
                <a:spcPts val="0"/>
              </a:spcBef>
              <a:spcAft>
                <a:spcPts val="0"/>
              </a:spcAft>
              <a:buSzPts val="1400"/>
              <a:buChar char="●"/>
            </a:pPr>
            <a:r>
              <a:rPr lang="en"/>
              <a:t>If your state space is too large, try exploring the deep q network.</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